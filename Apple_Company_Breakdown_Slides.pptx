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920240"/>
            <a:ext cx="10332720" cy="1097280"/>
          </a:xfrm>
          <a:prstGeom prst="rect">
            <a:avLst/>
          </a:prstGeom>
          <a:noFill/>
        </p:spPr>
        <p:txBody>
          <a:bodyPr wrap="square">
            <a:spAutoFit/>
          </a:bodyPr>
          <a:lstStyle/>
          <a:p>
            <a:pPr algn="ctr"/>
            <a:r>
              <a:rPr sz="5400" b="1">
                <a:solidFill>
                  <a:srgbClr val="FFFFFF"/>
                </a:solidFill>
                <a:latin typeface="Helvetica"/>
              </a:rPr>
              <a:t>Apple Inc. (AAPL)</a:t>
            </a:r>
          </a:p>
        </p:txBody>
      </p:sp>
      <p:sp>
        <p:nvSpPr>
          <p:cNvPr id="4" name="TextBox 3"/>
          <p:cNvSpPr txBox="1"/>
          <p:nvPr/>
        </p:nvSpPr>
        <p:spPr>
          <a:xfrm>
            <a:off x="914400" y="3063240"/>
            <a:ext cx="10332720" cy="548640"/>
          </a:xfrm>
          <a:prstGeom prst="rect">
            <a:avLst/>
          </a:prstGeom>
          <a:noFill/>
        </p:spPr>
        <p:txBody>
          <a:bodyPr wrap="square">
            <a:spAutoFit/>
          </a:bodyPr>
          <a:lstStyle/>
          <a:p>
            <a:pPr algn="ctr"/>
            <a:r>
              <a:rPr sz="2000" b="0">
                <a:solidFill>
                  <a:srgbClr val="B0B0B5"/>
                </a:solidFill>
                <a:latin typeface="Helvetica"/>
              </a:rPr>
              <a:t>Full Company Breakdown — Products, Financials, Strategy &amp; Outlook</a:t>
            </a:r>
          </a:p>
        </p:txBody>
      </p:sp>
      <p:sp>
        <p:nvSpPr>
          <p:cNvPr id="5" name="Rectangle 4"/>
          <p:cNvSpPr/>
          <p:nvPr/>
        </p:nvSpPr>
        <p:spPr>
          <a:xfrm>
            <a:off x="5513832" y="3794760"/>
            <a:ext cx="1097280" cy="50800"/>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6035040"/>
            <a:ext cx="10332720" cy="365760"/>
          </a:xfrm>
          <a:prstGeom prst="rect">
            <a:avLst/>
          </a:prstGeom>
          <a:noFill/>
        </p:spPr>
        <p:txBody>
          <a:bodyPr wrap="square">
            <a:spAutoFit/>
          </a:bodyPr>
          <a:lstStyle/>
          <a:p>
            <a:pPr algn="ctr"/>
            <a:r>
              <a:rPr sz="1100" b="0">
                <a:solidFill>
                  <a:srgbClr val="86868B"/>
                </a:solidFill>
                <a:latin typeface="Helvetica"/>
              </a:rPr>
              <a:t>Prepared September 2026  ·  Data: Apple FY2026 Q3 results (quarter ended June 27, 2026), company filings, market 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822960"/>
          </a:xfrm>
          <a:prstGeom prst="rect">
            <a:avLst/>
          </a:prstGeom>
          <a:noFill/>
        </p:spPr>
        <p:txBody>
          <a:bodyPr wrap="square">
            <a:spAutoFit/>
          </a:bodyPr>
          <a:lstStyle/>
          <a:p>
            <a:pPr algn="l"/>
            <a:r>
              <a:rPr sz="3400" b="1">
                <a:solidFill>
                  <a:srgbClr val="1D1D1F"/>
                </a:solidFill>
                <a:latin typeface="Helvetica"/>
              </a:rPr>
              <a:t>Company Overview</a:t>
            </a:r>
          </a:p>
        </p:txBody>
      </p:sp>
      <p:sp>
        <p:nvSpPr>
          <p:cNvPr id="4" name="TextBox 3"/>
          <p:cNvSpPr txBox="1"/>
          <p:nvPr/>
        </p:nvSpPr>
        <p:spPr>
          <a:xfrm>
            <a:off x="566928" y="1024128"/>
            <a:ext cx="11064240" cy="365760"/>
          </a:xfrm>
          <a:prstGeom prst="rect">
            <a:avLst/>
          </a:prstGeom>
          <a:noFill/>
        </p:spPr>
        <p:txBody>
          <a:bodyPr wrap="square">
            <a:spAutoFit/>
          </a:bodyPr>
          <a:lstStyle/>
          <a:p>
            <a:pPr algn="l"/>
            <a:r>
              <a:rPr sz="1400" b="0">
                <a:solidFill>
                  <a:srgbClr val="86868B"/>
                </a:solidFill>
                <a:latin typeface="Helvetica"/>
              </a:rPr>
              <a:t>Who Apple is today — in numbers</a:t>
            </a:r>
          </a:p>
        </p:txBody>
      </p:sp>
      <p:sp>
        <p:nvSpPr>
          <p:cNvPr id="5" name="Rectangle 4"/>
          <p:cNvSpPr/>
          <p:nvPr/>
        </p:nvSpPr>
        <p:spPr>
          <a:xfrm>
            <a:off x="566928" y="1417320"/>
            <a:ext cx="1097280" cy="50800"/>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691640"/>
            <a:ext cx="3611880" cy="12344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54864"/>
          <a:lstStyle/>
          <a:p>
            <a:pPr algn="ctr"/>
            <a:r>
              <a:rPr sz="2600" b="1">
                <a:solidFill>
                  <a:srgbClr val="0071E3"/>
                </a:solidFill>
              </a:rPr>
              <a:t>$4.8–4.9T</a:t>
            </a:r>
          </a:p>
          <a:p>
            <a:pPr algn="ctr"/>
            <a:r>
              <a:rPr sz="1100">
                <a:solidFill>
                  <a:srgbClr val="86868B"/>
                </a:solidFill>
              </a:rPr>
              <a:t>Market capitalization</a:t>
            </a:r>
          </a:p>
        </p:txBody>
      </p:sp>
      <p:sp>
        <p:nvSpPr>
          <p:cNvPr id="7" name="Rectangle 6"/>
          <p:cNvSpPr/>
          <p:nvPr/>
        </p:nvSpPr>
        <p:spPr>
          <a:xfrm>
            <a:off x="4343400" y="1691640"/>
            <a:ext cx="3611880" cy="12344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54864"/>
          <a:lstStyle/>
          <a:p>
            <a:pPr algn="ctr"/>
            <a:r>
              <a:rPr sz="2600" b="1">
                <a:solidFill>
                  <a:srgbClr val="0071E3"/>
                </a:solidFill>
              </a:rPr>
              <a:t>$451B</a:t>
            </a:r>
          </a:p>
          <a:p>
            <a:pPr algn="ctr"/>
            <a:r>
              <a:rPr sz="1100">
                <a:solidFill>
                  <a:srgbClr val="86868B"/>
                </a:solidFill>
              </a:rPr>
              <a:t>Trailing-12M revenue</a:t>
            </a:r>
          </a:p>
        </p:txBody>
      </p:sp>
      <p:sp>
        <p:nvSpPr>
          <p:cNvPr id="8" name="Rectangle 7"/>
          <p:cNvSpPr/>
          <p:nvPr/>
        </p:nvSpPr>
        <p:spPr>
          <a:xfrm>
            <a:off x="8119872" y="1691640"/>
            <a:ext cx="3611880" cy="12344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54864"/>
          <a:lstStyle/>
          <a:p>
            <a:pPr algn="ctr"/>
            <a:r>
              <a:rPr sz="2600" b="1">
                <a:solidFill>
                  <a:srgbClr val="0071E3"/>
                </a:solidFill>
              </a:rPr>
              <a:t>$112B</a:t>
            </a:r>
          </a:p>
          <a:p>
            <a:pPr algn="ctr"/>
            <a:r>
              <a:rPr sz="1100">
                <a:solidFill>
                  <a:srgbClr val="86868B"/>
                </a:solidFill>
              </a:rPr>
              <a:t>Net income (TTM)</a:t>
            </a:r>
          </a:p>
        </p:txBody>
      </p:sp>
      <p:sp>
        <p:nvSpPr>
          <p:cNvPr id="9" name="Rectangle 8"/>
          <p:cNvSpPr/>
          <p:nvPr/>
        </p:nvSpPr>
        <p:spPr>
          <a:xfrm>
            <a:off x="566928" y="3090672"/>
            <a:ext cx="3611880" cy="12344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54864"/>
          <a:lstStyle/>
          <a:p>
            <a:pPr algn="ctr"/>
            <a:r>
              <a:rPr sz="2600" b="1">
                <a:solidFill>
                  <a:srgbClr val="0071E3"/>
                </a:solidFill>
              </a:rPr>
              <a:t>166,000</a:t>
            </a:r>
          </a:p>
          <a:p>
            <a:pPr algn="ctr"/>
            <a:r>
              <a:rPr sz="1100">
                <a:solidFill>
                  <a:srgbClr val="86868B"/>
                </a:solidFill>
              </a:rPr>
              <a:t>Employees worldwide</a:t>
            </a:r>
          </a:p>
        </p:txBody>
      </p:sp>
      <p:sp>
        <p:nvSpPr>
          <p:cNvPr id="10" name="Rectangle 9"/>
          <p:cNvSpPr/>
          <p:nvPr/>
        </p:nvSpPr>
        <p:spPr>
          <a:xfrm>
            <a:off x="4343400" y="3090672"/>
            <a:ext cx="3611880" cy="12344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54864"/>
          <a:lstStyle/>
          <a:p>
            <a:pPr algn="ctr"/>
            <a:r>
              <a:rPr sz="2600" b="1">
                <a:solidFill>
                  <a:srgbClr val="0071E3"/>
                </a:solidFill>
              </a:rPr>
              <a:t>2.5B+</a:t>
            </a:r>
          </a:p>
          <a:p>
            <a:pPr algn="ctr"/>
            <a:r>
              <a:rPr sz="1100">
                <a:solidFill>
                  <a:srgbClr val="86868B"/>
                </a:solidFill>
              </a:rPr>
              <a:t>Active devices installed base</a:t>
            </a:r>
          </a:p>
        </p:txBody>
      </p:sp>
      <p:sp>
        <p:nvSpPr>
          <p:cNvPr id="11" name="Rectangle 10"/>
          <p:cNvSpPr/>
          <p:nvPr/>
        </p:nvSpPr>
        <p:spPr>
          <a:xfrm>
            <a:off x="8119872" y="3090672"/>
            <a:ext cx="3611880" cy="12344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54864"/>
          <a:lstStyle/>
          <a:p>
            <a:pPr algn="ctr"/>
            <a:r>
              <a:rPr sz="2600" b="1">
                <a:solidFill>
                  <a:srgbClr val="0071E3"/>
                </a:solidFill>
              </a:rPr>
              <a:t>1976</a:t>
            </a:r>
          </a:p>
          <a:p>
            <a:pPr algn="ctr"/>
            <a:r>
              <a:rPr sz="1100">
                <a:solidFill>
                  <a:srgbClr val="86868B"/>
                </a:solidFill>
              </a:rPr>
              <a:t>Founded · Cupertino, CA</a:t>
            </a:r>
          </a:p>
        </p:txBody>
      </p:sp>
      <p:sp>
        <p:nvSpPr>
          <p:cNvPr id="12" name="TextBox 11"/>
          <p:cNvSpPr txBox="1"/>
          <p:nvPr/>
        </p:nvSpPr>
        <p:spPr>
          <a:xfrm>
            <a:off x="566928" y="4709160"/>
            <a:ext cx="11064240" cy="1828800"/>
          </a:xfrm>
          <a:prstGeom prst="rect">
            <a:avLst/>
          </a:prstGeom>
          <a:noFill/>
        </p:spPr>
        <p:txBody>
          <a:bodyPr wrap="square">
            <a:spAutoFit/>
          </a:bodyPr>
          <a:lstStyle/>
          <a:p>
            <a:pPr algn="l"/>
            <a:r>
              <a:rPr sz="1500" b="0">
                <a:solidFill>
                  <a:srgbClr val="1D1D1F"/>
                </a:solidFill>
                <a:latin typeface="Helvetica"/>
              </a:rPr>
              <a:t>Apple is one of the largest companies in the world, designing its own hardware, software and semiconductors. The iPhone anchors an expansive ecosystem spanning Mac, iPad, Apple Watch, AirPods and Services (App Store, iCloud, Apple Music/TV+, Pay). Manufacturing is outsourced to partners such as Foxconn and TSMC; slightly less than half of sales go through Apple's own stores, with the rest via partners and distribution.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822960"/>
          </a:xfrm>
          <a:prstGeom prst="rect">
            <a:avLst/>
          </a:prstGeom>
          <a:noFill/>
        </p:spPr>
        <p:txBody>
          <a:bodyPr wrap="square">
            <a:spAutoFit/>
          </a:bodyPr>
          <a:lstStyle/>
          <a:p>
            <a:pPr algn="l"/>
            <a:r>
              <a:rPr sz="3400" b="1">
                <a:solidFill>
                  <a:srgbClr val="1D1D1F"/>
                </a:solidFill>
                <a:latin typeface="Helvetica"/>
              </a:rPr>
              <a:t>History &amp; Milestones</a:t>
            </a:r>
          </a:p>
        </p:txBody>
      </p:sp>
      <p:sp>
        <p:nvSpPr>
          <p:cNvPr id="4" name="TextBox 3"/>
          <p:cNvSpPr txBox="1"/>
          <p:nvPr/>
        </p:nvSpPr>
        <p:spPr>
          <a:xfrm>
            <a:off x="566928" y="1024128"/>
            <a:ext cx="11064240" cy="365760"/>
          </a:xfrm>
          <a:prstGeom prst="rect">
            <a:avLst/>
          </a:prstGeom>
          <a:noFill/>
        </p:spPr>
        <p:txBody>
          <a:bodyPr wrap="square">
            <a:spAutoFit/>
          </a:bodyPr>
          <a:lstStyle/>
          <a:p>
            <a:pPr algn="l"/>
            <a:r>
              <a:rPr sz="1400" b="0">
                <a:solidFill>
                  <a:srgbClr val="86868B"/>
                </a:solidFill>
                <a:latin typeface="Helvetica"/>
              </a:rPr>
              <a:t>From a garage startup to the world's most valuable company</a:t>
            </a:r>
          </a:p>
        </p:txBody>
      </p:sp>
      <p:sp>
        <p:nvSpPr>
          <p:cNvPr id="5" name="Rectangle 4"/>
          <p:cNvSpPr/>
          <p:nvPr/>
        </p:nvSpPr>
        <p:spPr>
          <a:xfrm>
            <a:off x="566928" y="1417320"/>
            <a:ext cx="1097280" cy="50800"/>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85800" y="1700784"/>
            <a:ext cx="146304" cy="146304"/>
          </a:xfrm>
          <a:prstGeom prst="ellipse">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5236" y="1847088"/>
            <a:ext cx="20320" cy="38404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09344"/>
            <a:ext cx="868680" cy="365760"/>
          </a:xfrm>
          <a:prstGeom prst="rect">
            <a:avLst/>
          </a:prstGeom>
          <a:noFill/>
        </p:spPr>
        <p:txBody>
          <a:bodyPr wrap="square">
            <a:spAutoFit/>
          </a:bodyPr>
          <a:lstStyle/>
          <a:p>
            <a:pPr algn="l"/>
            <a:r>
              <a:rPr sz="1500" b="1">
                <a:solidFill>
                  <a:srgbClr val="0071E3"/>
                </a:solidFill>
                <a:latin typeface="Helvetica"/>
              </a:rPr>
              <a:t>1976</a:t>
            </a:r>
          </a:p>
        </p:txBody>
      </p:sp>
      <p:sp>
        <p:nvSpPr>
          <p:cNvPr id="9" name="TextBox 8"/>
          <p:cNvSpPr txBox="1"/>
          <p:nvPr/>
        </p:nvSpPr>
        <p:spPr>
          <a:xfrm>
            <a:off x="1874519" y="1609344"/>
            <a:ext cx="9692640" cy="457200"/>
          </a:xfrm>
          <a:prstGeom prst="rect">
            <a:avLst/>
          </a:prstGeom>
          <a:noFill/>
        </p:spPr>
        <p:txBody>
          <a:bodyPr wrap="square">
            <a:spAutoFit/>
          </a:bodyPr>
          <a:lstStyle/>
          <a:p>
            <a:pPr algn="l"/>
            <a:r>
              <a:rPr sz="1400" b="0">
                <a:solidFill>
                  <a:srgbClr val="1D1D1F"/>
                </a:solidFill>
                <a:latin typeface="Helvetica"/>
              </a:rPr>
              <a:t>Founded by Steve Jobs, Steve Wozniak &amp; Ronald Wayne; Apple I goes on sale</a:t>
            </a:r>
          </a:p>
        </p:txBody>
      </p:sp>
      <p:sp>
        <p:nvSpPr>
          <p:cNvPr id="10" name="Oval 9"/>
          <p:cNvSpPr/>
          <p:nvPr/>
        </p:nvSpPr>
        <p:spPr>
          <a:xfrm>
            <a:off x="685800" y="2212848"/>
            <a:ext cx="146304" cy="146304"/>
          </a:xfrm>
          <a:prstGeom prst="ellipse">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5236" y="2359152"/>
            <a:ext cx="20320" cy="38404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2121408"/>
            <a:ext cx="868680" cy="365760"/>
          </a:xfrm>
          <a:prstGeom prst="rect">
            <a:avLst/>
          </a:prstGeom>
          <a:noFill/>
        </p:spPr>
        <p:txBody>
          <a:bodyPr wrap="square">
            <a:spAutoFit/>
          </a:bodyPr>
          <a:lstStyle/>
          <a:p>
            <a:pPr algn="l"/>
            <a:r>
              <a:rPr sz="1500" b="1">
                <a:solidFill>
                  <a:srgbClr val="0071E3"/>
                </a:solidFill>
                <a:latin typeface="Helvetica"/>
              </a:rPr>
              <a:t>1984</a:t>
            </a:r>
          </a:p>
        </p:txBody>
      </p:sp>
      <p:sp>
        <p:nvSpPr>
          <p:cNvPr id="13" name="TextBox 12"/>
          <p:cNvSpPr txBox="1"/>
          <p:nvPr/>
        </p:nvSpPr>
        <p:spPr>
          <a:xfrm>
            <a:off x="1874519" y="2121408"/>
            <a:ext cx="9692640" cy="457200"/>
          </a:xfrm>
          <a:prstGeom prst="rect">
            <a:avLst/>
          </a:prstGeom>
          <a:noFill/>
        </p:spPr>
        <p:txBody>
          <a:bodyPr wrap="square">
            <a:spAutoFit/>
          </a:bodyPr>
          <a:lstStyle/>
          <a:p>
            <a:pPr algn="l"/>
            <a:r>
              <a:rPr sz="1400" b="0">
                <a:solidFill>
                  <a:srgbClr val="1D1D1F"/>
                </a:solidFill>
                <a:latin typeface="Helvetica"/>
              </a:rPr>
              <a:t>Macintosh launches — the first mass-market GUI personal computer</a:t>
            </a:r>
          </a:p>
        </p:txBody>
      </p:sp>
      <p:sp>
        <p:nvSpPr>
          <p:cNvPr id="14" name="Oval 13"/>
          <p:cNvSpPr/>
          <p:nvPr/>
        </p:nvSpPr>
        <p:spPr>
          <a:xfrm>
            <a:off x="685800" y="2724912"/>
            <a:ext cx="146304" cy="146304"/>
          </a:xfrm>
          <a:prstGeom prst="ellipse">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 y="2871216"/>
            <a:ext cx="20320" cy="38404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2633472"/>
            <a:ext cx="868680" cy="365760"/>
          </a:xfrm>
          <a:prstGeom prst="rect">
            <a:avLst/>
          </a:prstGeom>
          <a:noFill/>
        </p:spPr>
        <p:txBody>
          <a:bodyPr wrap="square">
            <a:spAutoFit/>
          </a:bodyPr>
          <a:lstStyle/>
          <a:p>
            <a:pPr algn="l"/>
            <a:r>
              <a:rPr sz="1500" b="1">
                <a:solidFill>
                  <a:srgbClr val="0071E3"/>
                </a:solidFill>
                <a:latin typeface="Helvetica"/>
              </a:rPr>
              <a:t>2001</a:t>
            </a:r>
          </a:p>
        </p:txBody>
      </p:sp>
      <p:sp>
        <p:nvSpPr>
          <p:cNvPr id="17" name="TextBox 16"/>
          <p:cNvSpPr txBox="1"/>
          <p:nvPr/>
        </p:nvSpPr>
        <p:spPr>
          <a:xfrm>
            <a:off x="1874519" y="2633472"/>
            <a:ext cx="9692640" cy="457200"/>
          </a:xfrm>
          <a:prstGeom prst="rect">
            <a:avLst/>
          </a:prstGeom>
          <a:noFill/>
        </p:spPr>
        <p:txBody>
          <a:bodyPr wrap="square">
            <a:spAutoFit/>
          </a:bodyPr>
          <a:lstStyle/>
          <a:p>
            <a:pPr algn="l"/>
            <a:r>
              <a:rPr sz="1400" b="0">
                <a:solidFill>
                  <a:srgbClr val="1D1D1F"/>
                </a:solidFill>
                <a:latin typeface="Helvetica"/>
              </a:rPr>
              <a:t>iPod debuts, beginning Apple's consumer-device transformation</a:t>
            </a:r>
          </a:p>
        </p:txBody>
      </p:sp>
      <p:sp>
        <p:nvSpPr>
          <p:cNvPr id="18" name="Oval 17"/>
          <p:cNvSpPr/>
          <p:nvPr/>
        </p:nvSpPr>
        <p:spPr>
          <a:xfrm>
            <a:off x="685800" y="3236976"/>
            <a:ext cx="146304" cy="146304"/>
          </a:xfrm>
          <a:prstGeom prst="ellipse">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5236" y="3383280"/>
            <a:ext cx="20320" cy="38404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145536"/>
            <a:ext cx="868680" cy="365760"/>
          </a:xfrm>
          <a:prstGeom prst="rect">
            <a:avLst/>
          </a:prstGeom>
          <a:noFill/>
        </p:spPr>
        <p:txBody>
          <a:bodyPr wrap="square">
            <a:spAutoFit/>
          </a:bodyPr>
          <a:lstStyle/>
          <a:p>
            <a:pPr algn="l"/>
            <a:r>
              <a:rPr sz="1500" b="1">
                <a:solidFill>
                  <a:srgbClr val="0071E3"/>
                </a:solidFill>
                <a:latin typeface="Helvetica"/>
              </a:rPr>
              <a:t>2007</a:t>
            </a:r>
          </a:p>
        </p:txBody>
      </p:sp>
      <p:sp>
        <p:nvSpPr>
          <p:cNvPr id="21" name="TextBox 20"/>
          <p:cNvSpPr txBox="1"/>
          <p:nvPr/>
        </p:nvSpPr>
        <p:spPr>
          <a:xfrm>
            <a:off x="1874519" y="3145536"/>
            <a:ext cx="9692640" cy="457200"/>
          </a:xfrm>
          <a:prstGeom prst="rect">
            <a:avLst/>
          </a:prstGeom>
          <a:noFill/>
        </p:spPr>
        <p:txBody>
          <a:bodyPr wrap="square">
            <a:spAutoFit/>
          </a:bodyPr>
          <a:lstStyle/>
          <a:p>
            <a:pPr algn="l"/>
            <a:r>
              <a:rPr sz="1400" b="0">
                <a:solidFill>
                  <a:srgbClr val="1D1D1F"/>
                </a:solidFill>
                <a:latin typeface="Helvetica"/>
              </a:rPr>
              <a:t>iPhone unveiled — redefines the smartphone industry</a:t>
            </a:r>
          </a:p>
        </p:txBody>
      </p:sp>
      <p:sp>
        <p:nvSpPr>
          <p:cNvPr id="22" name="Oval 21"/>
          <p:cNvSpPr/>
          <p:nvPr/>
        </p:nvSpPr>
        <p:spPr>
          <a:xfrm>
            <a:off x="685800" y="3749040"/>
            <a:ext cx="146304" cy="146304"/>
          </a:xfrm>
          <a:prstGeom prst="ellipse">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45236" y="3895344"/>
            <a:ext cx="20320" cy="38404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 y="3657600"/>
            <a:ext cx="868680" cy="365760"/>
          </a:xfrm>
          <a:prstGeom prst="rect">
            <a:avLst/>
          </a:prstGeom>
          <a:noFill/>
        </p:spPr>
        <p:txBody>
          <a:bodyPr wrap="square">
            <a:spAutoFit/>
          </a:bodyPr>
          <a:lstStyle/>
          <a:p>
            <a:pPr algn="l"/>
            <a:r>
              <a:rPr sz="1500" b="1">
                <a:solidFill>
                  <a:srgbClr val="0071E3"/>
                </a:solidFill>
                <a:latin typeface="Helvetica"/>
              </a:rPr>
              <a:t>2010</a:t>
            </a:r>
          </a:p>
        </p:txBody>
      </p:sp>
      <p:sp>
        <p:nvSpPr>
          <p:cNvPr id="25" name="TextBox 24"/>
          <p:cNvSpPr txBox="1"/>
          <p:nvPr/>
        </p:nvSpPr>
        <p:spPr>
          <a:xfrm>
            <a:off x="1874519" y="3657600"/>
            <a:ext cx="9692640" cy="457200"/>
          </a:xfrm>
          <a:prstGeom prst="rect">
            <a:avLst/>
          </a:prstGeom>
          <a:noFill/>
        </p:spPr>
        <p:txBody>
          <a:bodyPr wrap="square">
            <a:spAutoFit/>
          </a:bodyPr>
          <a:lstStyle/>
          <a:p>
            <a:pPr algn="l"/>
            <a:r>
              <a:rPr sz="1400" b="0">
                <a:solidFill>
                  <a:srgbClr val="1D1D1F"/>
                </a:solidFill>
                <a:latin typeface="Helvetica"/>
              </a:rPr>
              <a:t>iPad launches; Apple becomes the world's most valuable company (2011–12)</a:t>
            </a:r>
          </a:p>
        </p:txBody>
      </p:sp>
      <p:sp>
        <p:nvSpPr>
          <p:cNvPr id="26" name="Oval 25"/>
          <p:cNvSpPr/>
          <p:nvPr/>
        </p:nvSpPr>
        <p:spPr>
          <a:xfrm>
            <a:off x="685800" y="4261104"/>
            <a:ext cx="146304" cy="146304"/>
          </a:xfrm>
          <a:prstGeom prst="ellipse">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45236" y="4407408"/>
            <a:ext cx="20320" cy="38404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0120" y="4169664"/>
            <a:ext cx="868680" cy="365760"/>
          </a:xfrm>
          <a:prstGeom prst="rect">
            <a:avLst/>
          </a:prstGeom>
          <a:noFill/>
        </p:spPr>
        <p:txBody>
          <a:bodyPr wrap="square">
            <a:spAutoFit/>
          </a:bodyPr>
          <a:lstStyle/>
          <a:p>
            <a:pPr algn="l"/>
            <a:r>
              <a:rPr sz="1500" b="1">
                <a:solidFill>
                  <a:srgbClr val="0071E3"/>
                </a:solidFill>
                <a:latin typeface="Helvetica"/>
              </a:rPr>
              <a:t>2015</a:t>
            </a:r>
          </a:p>
        </p:txBody>
      </p:sp>
      <p:sp>
        <p:nvSpPr>
          <p:cNvPr id="29" name="TextBox 28"/>
          <p:cNvSpPr txBox="1"/>
          <p:nvPr/>
        </p:nvSpPr>
        <p:spPr>
          <a:xfrm>
            <a:off x="1874519" y="4169664"/>
            <a:ext cx="9692640" cy="457200"/>
          </a:xfrm>
          <a:prstGeom prst="rect">
            <a:avLst/>
          </a:prstGeom>
          <a:noFill/>
        </p:spPr>
        <p:txBody>
          <a:bodyPr wrap="square">
            <a:spAutoFit/>
          </a:bodyPr>
          <a:lstStyle/>
          <a:p>
            <a:pPr algn="l"/>
            <a:r>
              <a:rPr sz="1400" b="0">
                <a:solidFill>
                  <a:srgbClr val="1D1D1F"/>
                </a:solidFill>
                <a:latin typeface="Helvetica"/>
              </a:rPr>
              <a:t>Apple Watch — the best-selling watch in the world</a:t>
            </a:r>
          </a:p>
        </p:txBody>
      </p:sp>
      <p:sp>
        <p:nvSpPr>
          <p:cNvPr id="30" name="Oval 29"/>
          <p:cNvSpPr/>
          <p:nvPr/>
        </p:nvSpPr>
        <p:spPr>
          <a:xfrm>
            <a:off x="685800" y="4773168"/>
            <a:ext cx="146304" cy="146304"/>
          </a:xfrm>
          <a:prstGeom prst="ellipse">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45236" y="4919472"/>
            <a:ext cx="20320" cy="38404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0120" y="4681728"/>
            <a:ext cx="868680" cy="365760"/>
          </a:xfrm>
          <a:prstGeom prst="rect">
            <a:avLst/>
          </a:prstGeom>
          <a:noFill/>
        </p:spPr>
        <p:txBody>
          <a:bodyPr wrap="square">
            <a:spAutoFit/>
          </a:bodyPr>
          <a:lstStyle/>
          <a:p>
            <a:pPr algn="l"/>
            <a:r>
              <a:rPr sz="1500" b="1">
                <a:solidFill>
                  <a:srgbClr val="0071E3"/>
                </a:solidFill>
                <a:latin typeface="Helvetica"/>
              </a:rPr>
              <a:t>2020</a:t>
            </a:r>
          </a:p>
        </p:txBody>
      </p:sp>
      <p:sp>
        <p:nvSpPr>
          <p:cNvPr id="33" name="TextBox 32"/>
          <p:cNvSpPr txBox="1"/>
          <p:nvPr/>
        </p:nvSpPr>
        <p:spPr>
          <a:xfrm>
            <a:off x="1874519" y="4681728"/>
            <a:ext cx="9692640" cy="457200"/>
          </a:xfrm>
          <a:prstGeom prst="rect">
            <a:avLst/>
          </a:prstGeom>
          <a:noFill/>
        </p:spPr>
        <p:txBody>
          <a:bodyPr wrap="square">
            <a:spAutoFit/>
          </a:bodyPr>
          <a:lstStyle/>
          <a:p>
            <a:pPr algn="l"/>
            <a:r>
              <a:rPr sz="1400" b="0">
                <a:solidFill>
                  <a:srgbClr val="1D1D1F"/>
                </a:solidFill>
                <a:latin typeface="Helvetica"/>
              </a:rPr>
              <a:t>Apple Silicon: M1 chips replace Intel across the Mac lineup</a:t>
            </a:r>
          </a:p>
        </p:txBody>
      </p:sp>
      <p:sp>
        <p:nvSpPr>
          <p:cNvPr id="34" name="Oval 33"/>
          <p:cNvSpPr/>
          <p:nvPr/>
        </p:nvSpPr>
        <p:spPr>
          <a:xfrm>
            <a:off x="685800" y="5285232"/>
            <a:ext cx="146304" cy="146304"/>
          </a:xfrm>
          <a:prstGeom prst="ellipse">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45236" y="5431536"/>
            <a:ext cx="20320" cy="38404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0120" y="5193792"/>
            <a:ext cx="868680" cy="365760"/>
          </a:xfrm>
          <a:prstGeom prst="rect">
            <a:avLst/>
          </a:prstGeom>
          <a:noFill/>
        </p:spPr>
        <p:txBody>
          <a:bodyPr wrap="square">
            <a:spAutoFit/>
          </a:bodyPr>
          <a:lstStyle/>
          <a:p>
            <a:pPr algn="l"/>
            <a:r>
              <a:rPr sz="1500" b="1">
                <a:solidFill>
                  <a:srgbClr val="0071E3"/>
                </a:solidFill>
                <a:latin typeface="Helvetica"/>
              </a:rPr>
              <a:t>2024</a:t>
            </a:r>
          </a:p>
        </p:txBody>
      </p:sp>
      <p:sp>
        <p:nvSpPr>
          <p:cNvPr id="37" name="TextBox 36"/>
          <p:cNvSpPr txBox="1"/>
          <p:nvPr/>
        </p:nvSpPr>
        <p:spPr>
          <a:xfrm>
            <a:off x="1874519" y="5193792"/>
            <a:ext cx="9692640" cy="457200"/>
          </a:xfrm>
          <a:prstGeom prst="rect">
            <a:avLst/>
          </a:prstGeom>
          <a:noFill/>
        </p:spPr>
        <p:txBody>
          <a:bodyPr wrap="square">
            <a:spAutoFit/>
          </a:bodyPr>
          <a:lstStyle/>
          <a:p>
            <a:pPr algn="l"/>
            <a:r>
              <a:rPr sz="1400" b="0">
                <a:solidFill>
                  <a:srgbClr val="1D1D1F"/>
                </a:solidFill>
                <a:latin typeface="Helvetica"/>
              </a:rPr>
              <a:t>Apple Intelligence: privacy-focused AI across all platforms</a:t>
            </a:r>
          </a:p>
        </p:txBody>
      </p:sp>
      <p:sp>
        <p:nvSpPr>
          <p:cNvPr id="38" name="Oval 37"/>
          <p:cNvSpPr/>
          <p:nvPr/>
        </p:nvSpPr>
        <p:spPr>
          <a:xfrm>
            <a:off x="685800" y="5797296"/>
            <a:ext cx="146304" cy="146304"/>
          </a:xfrm>
          <a:prstGeom prst="ellipse">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60120" y="5705856"/>
            <a:ext cx="868680" cy="365760"/>
          </a:xfrm>
          <a:prstGeom prst="rect">
            <a:avLst/>
          </a:prstGeom>
          <a:noFill/>
        </p:spPr>
        <p:txBody>
          <a:bodyPr wrap="square">
            <a:spAutoFit/>
          </a:bodyPr>
          <a:lstStyle/>
          <a:p>
            <a:pPr algn="l"/>
            <a:r>
              <a:rPr sz="1500" b="1">
                <a:solidFill>
                  <a:srgbClr val="0071E3"/>
                </a:solidFill>
                <a:latin typeface="Helvetica"/>
              </a:rPr>
              <a:t>2026</a:t>
            </a:r>
          </a:p>
        </p:txBody>
      </p:sp>
      <p:sp>
        <p:nvSpPr>
          <p:cNvPr id="40" name="TextBox 39"/>
          <p:cNvSpPr txBox="1"/>
          <p:nvPr/>
        </p:nvSpPr>
        <p:spPr>
          <a:xfrm>
            <a:off x="1874519" y="5705856"/>
            <a:ext cx="9692640" cy="457200"/>
          </a:xfrm>
          <a:prstGeom prst="rect">
            <a:avLst/>
          </a:prstGeom>
          <a:noFill/>
        </p:spPr>
        <p:txBody>
          <a:bodyPr wrap="square">
            <a:spAutoFit/>
          </a:bodyPr>
          <a:lstStyle/>
          <a:p>
            <a:pPr algn="l"/>
            <a:r>
              <a:rPr sz="1400" b="0">
                <a:solidFill>
                  <a:srgbClr val="1D1D1F"/>
                </a:solidFill>
                <a:latin typeface="Helvetica"/>
              </a:rPr>
              <a:t>iPhone 18 Pro, first foldable (iPhone Duo), AirPods 5, Watch Series 12; CEO transition announced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822960"/>
          </a:xfrm>
          <a:prstGeom prst="rect">
            <a:avLst/>
          </a:prstGeom>
          <a:noFill/>
        </p:spPr>
        <p:txBody>
          <a:bodyPr wrap="square">
            <a:spAutoFit/>
          </a:bodyPr>
          <a:lstStyle/>
          <a:p>
            <a:pPr algn="l"/>
            <a:r>
              <a:rPr sz="3400" b="1">
                <a:solidFill>
                  <a:srgbClr val="1D1D1F"/>
                </a:solidFill>
                <a:latin typeface="Helvetica"/>
              </a:rPr>
              <a:t>Products &amp; Services Portfolio</a:t>
            </a:r>
          </a:p>
        </p:txBody>
      </p:sp>
      <p:sp>
        <p:nvSpPr>
          <p:cNvPr id="4" name="TextBox 3"/>
          <p:cNvSpPr txBox="1"/>
          <p:nvPr/>
        </p:nvSpPr>
        <p:spPr>
          <a:xfrm>
            <a:off x="566928" y="1024128"/>
            <a:ext cx="11064240" cy="365760"/>
          </a:xfrm>
          <a:prstGeom prst="rect">
            <a:avLst/>
          </a:prstGeom>
          <a:noFill/>
        </p:spPr>
        <p:txBody>
          <a:bodyPr wrap="square">
            <a:spAutoFit/>
          </a:bodyPr>
          <a:lstStyle/>
          <a:p>
            <a:pPr algn="l"/>
            <a:r>
              <a:rPr sz="1400" b="0">
                <a:solidFill>
                  <a:srgbClr val="86868B"/>
                </a:solidFill>
                <a:latin typeface="Helvetica"/>
              </a:rPr>
              <a:t>An ecosystem built around the iPhone</a:t>
            </a:r>
          </a:p>
        </p:txBody>
      </p:sp>
      <p:sp>
        <p:nvSpPr>
          <p:cNvPr id="5" name="Rectangle 4"/>
          <p:cNvSpPr/>
          <p:nvPr/>
        </p:nvSpPr>
        <p:spPr>
          <a:xfrm>
            <a:off x="566928" y="1417320"/>
            <a:ext cx="1097280" cy="50800"/>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691640"/>
            <a:ext cx="3657600" cy="2395728"/>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1783080"/>
            <a:ext cx="3383280" cy="2212848"/>
          </a:xfrm>
          <a:prstGeom prst="rect">
            <a:avLst/>
          </a:prstGeom>
          <a:noFill/>
        </p:spPr>
        <p:txBody>
          <a:bodyPr wrap="square">
            <a:spAutoFit/>
          </a:bodyPr>
          <a:lstStyle/>
          <a:p>
            <a:r>
              <a:rPr sz="1350" b="1">
                <a:solidFill>
                  <a:srgbClr val="0071E3"/>
                </a:solidFill>
              </a:rPr>
              <a:t>iPhone  —  $54.3B in Q3 FY26</a:t>
            </a:r>
          </a:p>
          <a:p>
            <a:pPr>
              <a:spcBef>
                <a:spcPts val="400"/>
              </a:spcBef>
            </a:pPr>
            <a:r>
              <a:rPr sz="1150">
                <a:solidFill>
                  <a:srgbClr val="1D1D1F"/>
                </a:solidFill>
              </a:rPr>
              <a:t>·  Flagship product: ~50% of revenue</a:t>
            </a:r>
          </a:p>
          <a:p>
            <a:pPr>
              <a:spcBef>
                <a:spcPts val="400"/>
              </a:spcBef>
            </a:pPr>
            <a:r>
              <a:rPr sz="1150">
                <a:solidFill>
                  <a:srgbClr val="1D1D1F"/>
                </a:solidFill>
              </a:rPr>
              <a:t>·  Q3 record: +22% YoY</a:t>
            </a:r>
          </a:p>
          <a:p>
            <a:pPr>
              <a:spcBef>
                <a:spcPts val="400"/>
              </a:spcBef>
            </a:pPr>
            <a:r>
              <a:rPr sz="1150">
                <a:solidFill>
                  <a:srgbClr val="1D1D1F"/>
                </a:solidFill>
              </a:rPr>
              <a:t>·  2026 lineup: iPhone 18 Pro &amp; first foldable (iPhone Duo)</a:t>
            </a:r>
          </a:p>
        </p:txBody>
      </p:sp>
      <p:sp>
        <p:nvSpPr>
          <p:cNvPr id="8" name="Rectangle 7"/>
          <p:cNvSpPr/>
          <p:nvPr/>
        </p:nvSpPr>
        <p:spPr>
          <a:xfrm>
            <a:off x="4352544" y="1691640"/>
            <a:ext cx="3657600" cy="2395728"/>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9704" y="1783080"/>
            <a:ext cx="3383280" cy="2212848"/>
          </a:xfrm>
          <a:prstGeom prst="rect">
            <a:avLst/>
          </a:prstGeom>
          <a:noFill/>
        </p:spPr>
        <p:txBody>
          <a:bodyPr wrap="square">
            <a:spAutoFit/>
          </a:bodyPr>
          <a:lstStyle/>
          <a:p>
            <a:r>
              <a:rPr sz="1350" b="1">
                <a:solidFill>
                  <a:srgbClr val="0071E3"/>
                </a:solidFill>
              </a:rPr>
              <a:t>Mac  —  $10.4B</a:t>
            </a:r>
          </a:p>
          <a:p>
            <a:pPr>
              <a:spcBef>
                <a:spcPts val="400"/>
              </a:spcBef>
            </a:pPr>
            <a:r>
              <a:rPr sz="1150">
                <a:solidFill>
                  <a:srgbClr val="1D1D1F"/>
                </a:solidFill>
              </a:rPr>
              <a:t>·  +29% YoY — best June quarter ever</a:t>
            </a:r>
          </a:p>
          <a:p>
            <a:pPr>
              <a:spcBef>
                <a:spcPts val="400"/>
              </a:spcBef>
            </a:pPr>
            <a:r>
              <a:rPr sz="1150">
                <a:solidFill>
                  <a:srgbClr val="1D1D1F"/>
                </a:solidFill>
              </a:rPr>
              <a:t>·  Driven by MacBook Neo &amp; MacBook Pro</a:t>
            </a:r>
          </a:p>
          <a:p>
            <a:pPr>
              <a:spcBef>
                <a:spcPts val="400"/>
              </a:spcBef>
            </a:pPr>
            <a:r>
              <a:rPr sz="1150">
                <a:solidFill>
                  <a:srgbClr val="1D1D1F"/>
                </a:solidFill>
              </a:rPr>
              <a:t>·  95% U.S. customer satisfaction</a:t>
            </a:r>
          </a:p>
        </p:txBody>
      </p:sp>
      <p:sp>
        <p:nvSpPr>
          <p:cNvPr id="10" name="Rectangle 9"/>
          <p:cNvSpPr/>
          <p:nvPr/>
        </p:nvSpPr>
        <p:spPr>
          <a:xfrm>
            <a:off x="8138160" y="1691640"/>
            <a:ext cx="3657600" cy="2395728"/>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75320" y="1783080"/>
            <a:ext cx="3383280" cy="2212848"/>
          </a:xfrm>
          <a:prstGeom prst="rect">
            <a:avLst/>
          </a:prstGeom>
          <a:noFill/>
        </p:spPr>
        <p:txBody>
          <a:bodyPr wrap="square">
            <a:spAutoFit/>
          </a:bodyPr>
          <a:lstStyle/>
          <a:p>
            <a:r>
              <a:rPr sz="1350" b="1">
                <a:solidFill>
                  <a:srgbClr val="0071E3"/>
                </a:solidFill>
              </a:rPr>
              <a:t>iPad  —  $6.2B</a:t>
            </a:r>
          </a:p>
          <a:p>
            <a:pPr>
              <a:spcBef>
                <a:spcPts val="400"/>
              </a:spcBef>
            </a:pPr>
            <a:r>
              <a:rPr sz="1150">
                <a:solidFill>
                  <a:srgbClr val="1D1D1F"/>
                </a:solidFill>
              </a:rPr>
              <a:t>·  -6% YoY on a tough prior-year compare</a:t>
            </a:r>
          </a:p>
          <a:p>
            <a:pPr>
              <a:spcBef>
                <a:spcPts val="400"/>
              </a:spcBef>
            </a:pPr>
            <a:r>
              <a:rPr sz="1150">
                <a:solidFill>
                  <a:srgbClr val="1D1D1F"/>
                </a:solidFill>
              </a:rPr>
              <a:t>·  A16-powered iPad cycle laps</a:t>
            </a:r>
          </a:p>
          <a:p>
            <a:pPr>
              <a:spcBef>
                <a:spcPts val="400"/>
              </a:spcBef>
            </a:pPr>
            <a:r>
              <a:rPr sz="1150">
                <a:solidFill>
                  <a:srgbClr val="1D1D1F"/>
                </a:solidFill>
              </a:rPr>
              <a:t>·  Education &amp; creative segments</a:t>
            </a:r>
          </a:p>
        </p:txBody>
      </p:sp>
      <p:sp>
        <p:nvSpPr>
          <p:cNvPr id="12" name="Rectangle 11"/>
          <p:cNvSpPr/>
          <p:nvPr/>
        </p:nvSpPr>
        <p:spPr>
          <a:xfrm>
            <a:off x="566928" y="4233672"/>
            <a:ext cx="3657600" cy="2395728"/>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4325112"/>
            <a:ext cx="3383280" cy="2212848"/>
          </a:xfrm>
          <a:prstGeom prst="rect">
            <a:avLst/>
          </a:prstGeom>
          <a:noFill/>
        </p:spPr>
        <p:txBody>
          <a:bodyPr wrap="square">
            <a:spAutoFit/>
          </a:bodyPr>
          <a:lstStyle/>
          <a:p>
            <a:r>
              <a:rPr sz="1350" b="1">
                <a:solidFill>
                  <a:srgbClr val="0071E3"/>
                </a:solidFill>
              </a:rPr>
              <a:t>Wearables, Home &amp; Accessories  —  $6.8B</a:t>
            </a:r>
          </a:p>
          <a:p>
            <a:pPr>
              <a:spcBef>
                <a:spcPts val="400"/>
              </a:spcBef>
            </a:pPr>
            <a:r>
              <a:rPr sz="1150">
                <a:solidFill>
                  <a:srgbClr val="1D1D1F"/>
                </a:solidFill>
              </a:rPr>
              <a:t>·  Apple Watch Series 12 / Ultra 4</a:t>
            </a:r>
          </a:p>
          <a:p>
            <a:pPr>
              <a:spcBef>
                <a:spcPts val="400"/>
              </a:spcBef>
            </a:pPr>
            <a:r>
              <a:rPr sz="1150">
                <a:solidFill>
                  <a:srgbClr val="1D1D1F"/>
                </a:solidFill>
              </a:rPr>
              <a:t>·  AirPods 5</a:t>
            </a:r>
          </a:p>
          <a:p>
            <a:pPr>
              <a:spcBef>
                <a:spcPts val="400"/>
              </a:spcBef>
            </a:pPr>
            <a:r>
              <a:rPr sz="1150">
                <a:solidFill>
                  <a:srgbClr val="1D1D1F"/>
                </a:solidFill>
              </a:rPr>
              <a:t>·  Home &amp; accessories rounding out the home</a:t>
            </a:r>
          </a:p>
        </p:txBody>
      </p:sp>
      <p:sp>
        <p:nvSpPr>
          <p:cNvPr id="14" name="Rectangle 13"/>
          <p:cNvSpPr/>
          <p:nvPr/>
        </p:nvSpPr>
        <p:spPr>
          <a:xfrm>
            <a:off x="4352544" y="4233672"/>
            <a:ext cx="3657600" cy="2395728"/>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9704" y="4325112"/>
            <a:ext cx="3383280" cy="2212848"/>
          </a:xfrm>
          <a:prstGeom prst="rect">
            <a:avLst/>
          </a:prstGeom>
          <a:noFill/>
        </p:spPr>
        <p:txBody>
          <a:bodyPr wrap="square">
            <a:spAutoFit/>
          </a:bodyPr>
          <a:lstStyle/>
          <a:p>
            <a:r>
              <a:rPr sz="1350" b="1">
                <a:solidFill>
                  <a:srgbClr val="0071E3"/>
                </a:solidFill>
              </a:rPr>
              <a:t>Services  —  $30.7B</a:t>
            </a:r>
          </a:p>
          <a:p>
            <a:pPr>
              <a:spcBef>
                <a:spcPts val="400"/>
              </a:spcBef>
            </a:pPr>
            <a:r>
              <a:rPr sz="1150">
                <a:solidFill>
                  <a:srgbClr val="1D1D1F"/>
                </a:solidFill>
              </a:rPr>
              <a:t>·  +12% YoY; records in every category</a:t>
            </a:r>
          </a:p>
          <a:p>
            <a:pPr>
              <a:spcBef>
                <a:spcPts val="400"/>
              </a:spcBef>
            </a:pPr>
            <a:r>
              <a:rPr sz="1150">
                <a:solidFill>
                  <a:srgbClr val="1D1D1F"/>
                </a:solidFill>
              </a:rPr>
              <a:t>·  App Store, iCloud, Music, TV+, Pay</a:t>
            </a:r>
          </a:p>
          <a:p>
            <a:pPr>
              <a:spcBef>
                <a:spcPts val="400"/>
              </a:spcBef>
            </a:pPr>
            <a:r>
              <a:rPr sz="1150">
                <a:solidFill>
                  <a:srgbClr val="1D1D1F"/>
                </a:solidFill>
              </a:rPr>
              <a:t>·  Cloud &amp; payment services hit all-time records</a:t>
            </a:r>
          </a:p>
        </p:txBody>
      </p:sp>
      <p:sp>
        <p:nvSpPr>
          <p:cNvPr id="16" name="Rectangle 15"/>
          <p:cNvSpPr/>
          <p:nvPr/>
        </p:nvSpPr>
        <p:spPr>
          <a:xfrm>
            <a:off x="8138160" y="4233672"/>
            <a:ext cx="3657600" cy="2395728"/>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5320" y="4325112"/>
            <a:ext cx="3383280" cy="2212848"/>
          </a:xfrm>
          <a:prstGeom prst="rect">
            <a:avLst/>
          </a:prstGeom>
          <a:noFill/>
        </p:spPr>
        <p:txBody>
          <a:bodyPr wrap="square">
            <a:spAutoFit/>
          </a:bodyPr>
          <a:lstStyle/>
          <a:p>
            <a:r>
              <a:rPr sz="1350" b="1">
                <a:solidFill>
                  <a:srgbClr val="0071E3"/>
                </a:solidFill>
              </a:rPr>
              <a:t>Software &amp; AI</a:t>
            </a:r>
          </a:p>
          <a:p>
            <a:pPr>
              <a:spcBef>
                <a:spcPts val="400"/>
              </a:spcBef>
            </a:pPr>
            <a:r>
              <a:rPr sz="1150">
                <a:solidFill>
                  <a:srgbClr val="1D1D1F"/>
                </a:solidFill>
              </a:rPr>
              <a:t>·  iOS, macOS (Golden Gate at WWDC26)</a:t>
            </a:r>
          </a:p>
          <a:p>
            <a:pPr>
              <a:spcBef>
                <a:spcPts val="400"/>
              </a:spcBef>
            </a:pPr>
            <a:r>
              <a:rPr sz="1150">
                <a:solidFill>
                  <a:srgbClr val="1D1D1F"/>
                </a:solidFill>
              </a:rPr>
              <a:t>·  Apple Intelligence &amp; Siri AI — privacy-first AI</a:t>
            </a:r>
          </a:p>
          <a:p>
            <a:pPr>
              <a:spcBef>
                <a:spcPts val="400"/>
              </a:spcBef>
            </a:pPr>
            <a:r>
              <a:rPr sz="1150">
                <a:solidFill>
                  <a:srgbClr val="1D1D1F"/>
                </a:solidFill>
              </a:rPr>
              <a:t>·  Designed chips: A-series &amp; M-series silicon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822960"/>
          </a:xfrm>
          <a:prstGeom prst="rect">
            <a:avLst/>
          </a:prstGeom>
          <a:noFill/>
        </p:spPr>
        <p:txBody>
          <a:bodyPr wrap="square">
            <a:spAutoFit/>
          </a:bodyPr>
          <a:lstStyle/>
          <a:p>
            <a:pPr algn="l"/>
            <a:r>
              <a:rPr sz="3400" b="1">
                <a:solidFill>
                  <a:srgbClr val="1D1D1F"/>
                </a:solidFill>
                <a:latin typeface="Helvetica"/>
              </a:rPr>
              <a:t>Financial Performance</a:t>
            </a:r>
          </a:p>
        </p:txBody>
      </p:sp>
      <p:sp>
        <p:nvSpPr>
          <p:cNvPr id="4" name="TextBox 3"/>
          <p:cNvSpPr txBox="1"/>
          <p:nvPr/>
        </p:nvSpPr>
        <p:spPr>
          <a:xfrm>
            <a:off x="566928" y="1024128"/>
            <a:ext cx="11064240" cy="365760"/>
          </a:xfrm>
          <a:prstGeom prst="rect">
            <a:avLst/>
          </a:prstGeom>
          <a:noFill/>
        </p:spPr>
        <p:txBody>
          <a:bodyPr wrap="square">
            <a:spAutoFit/>
          </a:bodyPr>
          <a:lstStyle/>
          <a:p>
            <a:pPr algn="l"/>
            <a:r>
              <a:rPr sz="1400" b="0">
                <a:solidFill>
                  <a:srgbClr val="86868B"/>
                </a:solidFill>
                <a:latin typeface="Helvetica"/>
              </a:rPr>
              <a:t>Revenue re-accelerating — FY2026 tracking toward ~$451B</a:t>
            </a:r>
          </a:p>
        </p:txBody>
      </p:sp>
      <p:sp>
        <p:nvSpPr>
          <p:cNvPr id="5" name="Rectangle 4"/>
          <p:cNvSpPr/>
          <p:nvPr/>
        </p:nvSpPr>
        <p:spPr>
          <a:xfrm>
            <a:off x="566928" y="1417320"/>
            <a:ext cx="1097280" cy="50800"/>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_revenue.png"/>
          <p:cNvPicPr>
            <a:picLocks noChangeAspect="1"/>
          </p:cNvPicPr>
          <p:nvPr/>
        </p:nvPicPr>
        <p:blipFill>
          <a:blip r:embed="rId2"/>
          <a:stretch>
            <a:fillRect/>
          </a:stretch>
        </p:blipFill>
        <p:spPr>
          <a:xfrm>
            <a:off x="457200" y="1645920"/>
            <a:ext cx="6675120" cy="3629832"/>
          </a:xfrm>
          <a:prstGeom prst="rect">
            <a:avLst/>
          </a:prstGeom>
        </p:spPr>
      </p:pic>
      <p:sp>
        <p:nvSpPr>
          <p:cNvPr id="7" name="TextBox 6"/>
          <p:cNvSpPr txBox="1"/>
          <p:nvPr/>
        </p:nvSpPr>
        <p:spPr>
          <a:xfrm>
            <a:off x="7452360" y="1783080"/>
            <a:ext cx="4206240" cy="4754880"/>
          </a:xfrm>
          <a:prstGeom prst="rect">
            <a:avLst/>
          </a:prstGeom>
          <a:noFill/>
        </p:spPr>
        <p:txBody>
          <a:bodyPr wrap="square">
            <a:spAutoFit/>
          </a:bodyPr>
          <a:lstStyle/>
          <a:p>
            <a:pPr>
              <a:spcAft>
                <a:spcPts val="600"/>
              </a:spcAft>
            </a:pPr>
            <a:r>
              <a:rPr sz="1400" b="1">
                <a:solidFill>
                  <a:srgbClr val="0071E3"/>
                </a:solidFill>
              </a:rPr>
              <a:t>▸  </a:t>
            </a:r>
            <a:r>
              <a:rPr sz="1400" b="1">
                <a:solidFill>
                  <a:srgbClr val="1D1D1F"/>
                </a:solidFill>
              </a:rPr>
              <a:t>Top line: </a:t>
            </a:r>
            <a:r>
              <a:rPr sz="1400">
                <a:solidFill>
                  <a:srgbClr val="1D1D1F"/>
                </a:solidFill>
              </a:rPr>
              <a:t>FY2025 revenue $416.2B (+6.4%); trailing-12-month revenue now ~$451B</a:t>
            </a:r>
          </a:p>
          <a:p>
            <a:pPr>
              <a:spcAft>
                <a:spcPts val="600"/>
              </a:spcAft>
            </a:pPr>
            <a:r>
              <a:rPr sz="1400" b="1">
                <a:solidFill>
                  <a:srgbClr val="0071E3"/>
                </a:solidFill>
              </a:rPr>
              <a:t>▸  </a:t>
            </a:r>
            <a:r>
              <a:rPr sz="1400" b="1">
                <a:solidFill>
                  <a:srgbClr val="1D1D1F"/>
                </a:solidFill>
              </a:rPr>
              <a:t>Profitability: </a:t>
            </a:r>
            <a:r>
              <a:rPr sz="1400">
                <a:solidFill>
                  <a:srgbClr val="1D1D1F"/>
                </a:solidFill>
              </a:rPr>
              <a:t>TTM net income ~$112B; net margin ~27%</a:t>
            </a:r>
          </a:p>
          <a:p>
            <a:pPr>
              <a:spcAft>
                <a:spcPts val="600"/>
              </a:spcAft>
            </a:pPr>
            <a:r>
              <a:rPr sz="1400" b="1">
                <a:solidFill>
                  <a:srgbClr val="0071E3"/>
                </a:solidFill>
              </a:rPr>
              <a:t>▸  </a:t>
            </a:r>
            <a:r>
              <a:rPr sz="1400" b="1">
                <a:solidFill>
                  <a:srgbClr val="1D1D1F"/>
                </a:solidFill>
              </a:rPr>
              <a:t>Efficiency: </a:t>
            </a:r>
            <a:r>
              <a:rPr sz="1400">
                <a:solidFill>
                  <a:srgbClr val="1D1D1F"/>
                </a:solidFill>
              </a:rPr>
              <a:t>ROE ~141–171% — among the highest of any large company, driven by share buybacks</a:t>
            </a:r>
          </a:p>
          <a:p>
            <a:pPr>
              <a:spcAft>
                <a:spcPts val="600"/>
              </a:spcAft>
            </a:pPr>
            <a:r>
              <a:rPr sz="1400" b="1">
                <a:solidFill>
                  <a:srgbClr val="0071E3"/>
                </a:solidFill>
              </a:rPr>
              <a:t>▸  </a:t>
            </a:r>
            <a:r>
              <a:rPr sz="1400" b="1">
                <a:solidFill>
                  <a:srgbClr val="1D1D1F"/>
                </a:solidFill>
              </a:rPr>
              <a:t>Cash generation: </a:t>
            </a:r>
            <a:r>
              <a:rPr sz="1400">
                <a:solidFill>
                  <a:srgbClr val="1D1D1F"/>
                </a:solidFill>
              </a:rPr>
              <a:t>Operating cash flow $34.4B in Q3 FY26 alone (June-quarter record)</a:t>
            </a:r>
          </a:p>
          <a:p>
            <a:pPr>
              <a:spcAft>
                <a:spcPts val="600"/>
              </a:spcAft>
            </a:pPr>
            <a:r>
              <a:rPr sz="1400" b="1">
                <a:solidFill>
                  <a:srgbClr val="0071E3"/>
                </a:solidFill>
              </a:rPr>
              <a:t>▸  </a:t>
            </a:r>
            <a:r>
              <a:rPr sz="1400" b="1">
                <a:solidFill>
                  <a:srgbClr val="1D1D1F"/>
                </a:solidFill>
              </a:rPr>
              <a:t>Capital returns: </a:t>
            </a:r>
            <a:r>
              <a:rPr sz="1400">
                <a:solidFill>
                  <a:srgbClr val="1D1D1F"/>
                </a:solidFill>
              </a:rPr>
              <a:t>Dividend $0.27/share declared Aug 2026, plus one of the largest buyback programs in history</a:t>
            </a:r>
          </a:p>
          <a:p>
            <a:pPr>
              <a:spcAft>
                <a:spcPts val="600"/>
              </a:spcAft>
            </a:pPr>
            <a:r>
              <a:rPr sz="1400" b="1">
                <a:solidFill>
                  <a:srgbClr val="0071E3"/>
                </a:solidFill>
              </a:rPr>
              <a:t>▸  </a:t>
            </a:r>
            <a:r>
              <a:rPr sz="1400" b="1">
                <a:solidFill>
                  <a:srgbClr val="1D1D1F"/>
                </a:solidFill>
              </a:rPr>
              <a:t>Balance sheet: </a:t>
            </a:r>
            <a:r>
              <a:rPr sz="1400">
                <a:solidFill>
                  <a:srgbClr val="1D1D1F"/>
                </a:solidFill>
              </a:rPr>
              <a:t>~$33B debt to EV of only 3% — minimal leverage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822960"/>
          </a:xfrm>
          <a:prstGeom prst="rect">
            <a:avLst/>
          </a:prstGeom>
          <a:noFill/>
        </p:spPr>
        <p:txBody>
          <a:bodyPr wrap="square">
            <a:spAutoFit/>
          </a:bodyPr>
          <a:lstStyle/>
          <a:p>
            <a:pPr algn="l"/>
            <a:r>
              <a:rPr sz="3400" b="1">
                <a:solidFill>
                  <a:srgbClr val="1D1D1F"/>
                </a:solidFill>
                <a:latin typeface="Helvetica"/>
              </a:rPr>
              <a:t>Latest Quarter — Q3 FY2026</a:t>
            </a:r>
          </a:p>
        </p:txBody>
      </p:sp>
      <p:sp>
        <p:nvSpPr>
          <p:cNvPr id="4" name="TextBox 3"/>
          <p:cNvSpPr txBox="1"/>
          <p:nvPr/>
        </p:nvSpPr>
        <p:spPr>
          <a:xfrm>
            <a:off x="566928" y="1024128"/>
            <a:ext cx="11064240" cy="365760"/>
          </a:xfrm>
          <a:prstGeom prst="rect">
            <a:avLst/>
          </a:prstGeom>
          <a:noFill/>
        </p:spPr>
        <p:txBody>
          <a:bodyPr wrap="square">
            <a:spAutoFit/>
          </a:bodyPr>
          <a:lstStyle/>
          <a:p>
            <a:pPr algn="l"/>
            <a:r>
              <a:rPr sz="1400" b="0">
                <a:solidFill>
                  <a:srgbClr val="86868B"/>
                </a:solidFill>
                <a:latin typeface="Helvetica"/>
              </a:rPr>
              <a:t>Quarter ended June 27, 2026 — records across iPhone, Mac and Services</a:t>
            </a:r>
          </a:p>
        </p:txBody>
      </p:sp>
      <p:sp>
        <p:nvSpPr>
          <p:cNvPr id="5" name="Rectangle 4"/>
          <p:cNvSpPr/>
          <p:nvPr/>
        </p:nvSpPr>
        <p:spPr>
          <a:xfrm>
            <a:off x="566928" y="1417320"/>
            <a:ext cx="1097280" cy="50800"/>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_mix.png"/>
          <p:cNvPicPr>
            <a:picLocks noChangeAspect="1"/>
          </p:cNvPicPr>
          <p:nvPr/>
        </p:nvPicPr>
        <p:blipFill>
          <a:blip r:embed="rId2"/>
          <a:stretch>
            <a:fillRect/>
          </a:stretch>
        </p:blipFill>
        <p:spPr>
          <a:xfrm>
            <a:off x="6309360" y="1600200"/>
            <a:ext cx="5486400" cy="3727269"/>
          </a:xfrm>
          <a:prstGeom prst="rect">
            <a:avLst/>
          </a:prstGeom>
        </p:spPr>
      </p:pic>
      <p:sp>
        <p:nvSpPr>
          <p:cNvPr id="7" name="Rectangle 6"/>
          <p:cNvSpPr/>
          <p:nvPr/>
        </p:nvSpPr>
        <p:spPr>
          <a:xfrm>
            <a:off x="566928" y="1691640"/>
            <a:ext cx="5440680" cy="896112"/>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54864"/>
          <a:lstStyle/>
          <a:p>
            <a:pPr algn="ctr"/>
            <a:r>
              <a:rPr sz="2600" b="1">
                <a:solidFill>
                  <a:srgbClr val="0071E3"/>
                </a:solidFill>
              </a:rPr>
              <a:t>$109.4B</a:t>
            </a:r>
          </a:p>
          <a:p>
            <a:pPr algn="ctr"/>
            <a:r>
              <a:rPr sz="1100">
                <a:solidFill>
                  <a:srgbClr val="86868B"/>
                </a:solidFill>
              </a:rPr>
              <a:t>Revenue · +16% YoY · June-quarter record</a:t>
            </a:r>
          </a:p>
        </p:txBody>
      </p:sp>
      <p:sp>
        <p:nvSpPr>
          <p:cNvPr id="8" name="Rectangle 7"/>
          <p:cNvSpPr/>
          <p:nvPr/>
        </p:nvSpPr>
        <p:spPr>
          <a:xfrm>
            <a:off x="566928" y="2679192"/>
            <a:ext cx="5440680" cy="896112"/>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54864"/>
          <a:lstStyle/>
          <a:p>
            <a:pPr algn="ctr"/>
            <a:r>
              <a:rPr sz="2600" b="1">
                <a:solidFill>
                  <a:srgbClr val="0071E3"/>
                </a:solidFill>
              </a:rPr>
              <a:t>$29.8B</a:t>
            </a:r>
          </a:p>
          <a:p>
            <a:pPr algn="ctr"/>
            <a:r>
              <a:rPr sz="1100">
                <a:solidFill>
                  <a:srgbClr val="86868B"/>
                </a:solidFill>
              </a:rPr>
              <a:t>Net income · EPS $2.02 (+29% YoY)</a:t>
            </a:r>
          </a:p>
        </p:txBody>
      </p:sp>
      <p:sp>
        <p:nvSpPr>
          <p:cNvPr id="9" name="Rectangle 8"/>
          <p:cNvSpPr/>
          <p:nvPr/>
        </p:nvSpPr>
        <p:spPr>
          <a:xfrm>
            <a:off x="566928" y="3666744"/>
            <a:ext cx="5440680" cy="896112"/>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54864"/>
          <a:lstStyle/>
          <a:p>
            <a:pPr algn="ctr"/>
            <a:r>
              <a:rPr sz="2600" b="1">
                <a:solidFill>
                  <a:srgbClr val="0071E3"/>
                </a:solidFill>
              </a:rPr>
              <a:t>50.1%</a:t>
            </a:r>
          </a:p>
          <a:p>
            <a:pPr algn="ctr"/>
            <a:r>
              <a:rPr sz="1100">
                <a:solidFill>
                  <a:srgbClr val="86868B"/>
                </a:solidFill>
              </a:rPr>
              <a:t>Gross margin (incl. ~2pts tariff-refund benefit)</a:t>
            </a:r>
          </a:p>
        </p:txBody>
      </p:sp>
      <p:sp>
        <p:nvSpPr>
          <p:cNvPr id="10" name="Rectangle 9"/>
          <p:cNvSpPr/>
          <p:nvPr/>
        </p:nvSpPr>
        <p:spPr>
          <a:xfrm>
            <a:off x="566928" y="4654296"/>
            <a:ext cx="5440680" cy="896112"/>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54864"/>
          <a:lstStyle/>
          <a:p>
            <a:pPr algn="ctr"/>
            <a:r>
              <a:rPr sz="2600" b="1">
                <a:solidFill>
                  <a:srgbClr val="0071E3"/>
                </a:solidFill>
              </a:rPr>
              <a:t>$78.7B</a:t>
            </a:r>
          </a:p>
          <a:p>
            <a:pPr algn="ctr"/>
            <a:r>
              <a:rPr sz="1100">
                <a:solidFill>
                  <a:srgbClr val="86868B"/>
                </a:solidFill>
              </a:rPr>
              <a:t>Products revenue · +18% YoY</a:t>
            </a:r>
          </a:p>
        </p:txBody>
      </p:sp>
      <p:sp>
        <p:nvSpPr>
          <p:cNvPr id="11" name="Rectangle 10"/>
          <p:cNvSpPr/>
          <p:nvPr/>
        </p:nvSpPr>
        <p:spPr>
          <a:xfrm>
            <a:off x="566928" y="5641848"/>
            <a:ext cx="5440680" cy="896112"/>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54864"/>
          <a:lstStyle/>
          <a:p>
            <a:pPr algn="ctr"/>
            <a:r>
              <a:rPr sz="2600" b="1">
                <a:solidFill>
                  <a:srgbClr val="0071E3"/>
                </a:solidFill>
              </a:rPr>
              <a:t>$30.7B</a:t>
            </a:r>
          </a:p>
          <a:p>
            <a:pPr algn="ctr"/>
            <a:r>
              <a:rPr sz="1100">
                <a:solidFill>
                  <a:srgbClr val="86868B"/>
                </a:solidFill>
              </a:rPr>
              <a:t>Services revenue · +12% YoY · June-quarter record</a:t>
            </a:r>
          </a:p>
        </p:txBody>
      </p:sp>
      <p:sp>
        <p:nvSpPr>
          <p:cNvPr id="12" name="TextBox 11"/>
          <p:cNvSpPr txBox="1"/>
          <p:nvPr/>
        </p:nvSpPr>
        <p:spPr>
          <a:xfrm>
            <a:off x="566928" y="6355080"/>
            <a:ext cx="11064240" cy="365760"/>
          </a:xfrm>
          <a:prstGeom prst="rect">
            <a:avLst/>
          </a:prstGeom>
          <a:noFill/>
        </p:spPr>
        <p:txBody>
          <a:bodyPr wrap="square">
            <a:spAutoFit/>
          </a:bodyPr>
          <a:lstStyle/>
          <a:p>
            <a:pPr algn="l"/>
            <a:r>
              <a:rPr sz="1200" b="0">
                <a:solidFill>
                  <a:srgbClr val="86868B"/>
                </a:solidFill>
                <a:latin typeface="Helvetica"/>
              </a:rPr>
              <a:t>Geography: double-digit growth in every segment — records in the U.S., Latin America, Western Europe, India, Mainland China, Japan and Southeast Asia.  Guidance: Sept-quarter revenue +9–11% YoY; gross margin 47–48%.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822960"/>
          </a:xfrm>
          <a:prstGeom prst="rect">
            <a:avLst/>
          </a:prstGeom>
          <a:noFill/>
        </p:spPr>
        <p:txBody>
          <a:bodyPr wrap="square">
            <a:spAutoFit/>
          </a:bodyPr>
          <a:lstStyle/>
          <a:p>
            <a:pPr algn="l"/>
            <a:r>
              <a:rPr sz="3400" b="1">
                <a:solidFill>
                  <a:srgbClr val="1D1D1F"/>
                </a:solidFill>
                <a:latin typeface="Helvetica"/>
              </a:rPr>
              <a:t>Business Model Economics</a:t>
            </a:r>
          </a:p>
        </p:txBody>
      </p:sp>
      <p:sp>
        <p:nvSpPr>
          <p:cNvPr id="4" name="TextBox 3"/>
          <p:cNvSpPr txBox="1"/>
          <p:nvPr/>
        </p:nvSpPr>
        <p:spPr>
          <a:xfrm>
            <a:off x="566928" y="1024128"/>
            <a:ext cx="11064240" cy="365760"/>
          </a:xfrm>
          <a:prstGeom prst="rect">
            <a:avLst/>
          </a:prstGeom>
          <a:noFill/>
        </p:spPr>
        <p:txBody>
          <a:bodyPr wrap="square">
            <a:spAutoFit/>
          </a:bodyPr>
          <a:lstStyle/>
          <a:p>
            <a:pPr algn="l"/>
            <a:r>
              <a:rPr sz="1400" b="0">
                <a:solidFill>
                  <a:srgbClr val="86868B"/>
                </a:solidFill>
                <a:latin typeface="Helvetica"/>
              </a:rPr>
              <a:t>Services is the margin engine; hardware drives scale</a:t>
            </a:r>
          </a:p>
        </p:txBody>
      </p:sp>
      <p:sp>
        <p:nvSpPr>
          <p:cNvPr id="5" name="Rectangle 4"/>
          <p:cNvSpPr/>
          <p:nvPr/>
        </p:nvSpPr>
        <p:spPr>
          <a:xfrm>
            <a:off x="566928" y="1417320"/>
            <a:ext cx="1097280" cy="50800"/>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_margin.png"/>
          <p:cNvPicPr>
            <a:picLocks noChangeAspect="1"/>
          </p:cNvPicPr>
          <p:nvPr/>
        </p:nvPicPr>
        <p:blipFill>
          <a:blip r:embed="rId2"/>
          <a:stretch>
            <a:fillRect/>
          </a:stretch>
        </p:blipFill>
        <p:spPr>
          <a:xfrm>
            <a:off x="457200" y="1645920"/>
            <a:ext cx="6675120" cy="3682174"/>
          </a:xfrm>
          <a:prstGeom prst="rect">
            <a:avLst/>
          </a:prstGeom>
        </p:spPr>
      </p:pic>
      <p:sp>
        <p:nvSpPr>
          <p:cNvPr id="7" name="TextBox 6"/>
          <p:cNvSpPr txBox="1"/>
          <p:nvPr/>
        </p:nvSpPr>
        <p:spPr>
          <a:xfrm>
            <a:off x="7452360" y="1783080"/>
            <a:ext cx="4206240" cy="4754880"/>
          </a:xfrm>
          <a:prstGeom prst="rect">
            <a:avLst/>
          </a:prstGeom>
          <a:noFill/>
        </p:spPr>
        <p:txBody>
          <a:bodyPr wrap="square">
            <a:spAutoFit/>
          </a:bodyPr>
          <a:lstStyle/>
          <a:p>
            <a:pPr>
              <a:spcAft>
                <a:spcPts val="600"/>
              </a:spcAft>
            </a:pPr>
            <a:r>
              <a:rPr sz="1400" b="1">
                <a:solidFill>
                  <a:srgbClr val="0071E3"/>
                </a:solidFill>
              </a:rPr>
              <a:t>▸  </a:t>
            </a:r>
            <a:r>
              <a:rPr sz="1400" b="1">
                <a:solidFill>
                  <a:srgbClr val="1D1D1F"/>
                </a:solidFill>
              </a:rPr>
              <a:t>Services margin: </a:t>
            </a:r>
            <a:r>
              <a:rPr sz="1400">
                <a:solidFill>
                  <a:srgbClr val="1D1D1F"/>
                </a:solidFill>
              </a:rPr>
              <a:t>75.6% gross margin — nearly double the company average</a:t>
            </a:r>
          </a:p>
          <a:p>
            <a:pPr>
              <a:spcAft>
                <a:spcPts val="600"/>
              </a:spcAft>
            </a:pPr>
            <a:r>
              <a:rPr sz="1400" b="1">
                <a:solidFill>
                  <a:srgbClr val="0071E3"/>
                </a:solidFill>
              </a:rPr>
              <a:t>▸  </a:t>
            </a:r>
            <a:r>
              <a:rPr sz="1400" b="1">
                <a:solidFill>
                  <a:srgbClr val="1D1D1F"/>
                </a:solidFill>
              </a:rPr>
              <a:t>Products margin: </a:t>
            </a:r>
            <a:r>
              <a:rPr sz="1400">
                <a:solidFill>
                  <a:srgbClr val="1D1D1F"/>
                </a:solidFill>
              </a:rPr>
              <a:t>40.1% gross margin (incl. tariff-refund benefit)</a:t>
            </a:r>
          </a:p>
          <a:p>
            <a:pPr>
              <a:spcAft>
                <a:spcPts val="600"/>
              </a:spcAft>
            </a:pPr>
            <a:r>
              <a:rPr sz="1400" b="1">
                <a:solidFill>
                  <a:srgbClr val="0071E3"/>
                </a:solidFill>
              </a:rPr>
              <a:t>▸  </a:t>
            </a:r>
            <a:r>
              <a:rPr sz="1400" b="1">
                <a:solidFill>
                  <a:srgbClr val="1D1D1F"/>
                </a:solidFill>
              </a:rPr>
              <a:t>The mix shift: </a:t>
            </a:r>
            <a:r>
              <a:rPr sz="1400">
                <a:solidFill>
                  <a:srgbClr val="1D1D1F"/>
                </a:solidFill>
              </a:rPr>
              <a:t>Services is ~28% of revenue but a much larger share of profit — every point of Services growth lifts blended margin</a:t>
            </a:r>
          </a:p>
          <a:p>
            <a:pPr>
              <a:spcAft>
                <a:spcPts val="600"/>
              </a:spcAft>
            </a:pPr>
            <a:r>
              <a:rPr sz="1400" b="1">
                <a:solidFill>
                  <a:srgbClr val="0071E3"/>
                </a:solidFill>
              </a:rPr>
              <a:t>▸  </a:t>
            </a:r>
            <a:r>
              <a:rPr sz="1400" b="1">
                <a:solidFill>
                  <a:srgbClr val="1D1D1F"/>
                </a:solidFill>
              </a:rPr>
              <a:t>R&amp;D investment: </a:t>
            </a:r>
            <a:r>
              <a:rPr sz="1400">
                <a:solidFill>
                  <a:srgbClr val="1D1D1F"/>
                </a:solidFill>
              </a:rPr>
              <a:t>OpEx $19.1B, +23% YoY, driven by AI and silicon development</a:t>
            </a:r>
          </a:p>
          <a:p>
            <a:pPr>
              <a:spcAft>
                <a:spcPts val="600"/>
              </a:spcAft>
            </a:pPr>
            <a:r>
              <a:rPr sz="1400" b="1">
                <a:solidFill>
                  <a:srgbClr val="0071E3"/>
                </a:solidFill>
              </a:rPr>
              <a:t>▸  </a:t>
            </a:r>
            <a:r>
              <a:rPr sz="1400" b="1">
                <a:solidFill>
                  <a:srgbClr val="1D1D1F"/>
                </a:solidFill>
              </a:rPr>
              <a:t>Watch item: </a:t>
            </a:r>
            <a:r>
              <a:rPr sz="1400">
                <a:solidFill>
                  <a:srgbClr val="1D1D1F"/>
                </a:solidFill>
              </a:rPr>
              <a:t>Rising memory (DRAM/NAND) costs pressured margins into Q4; FX a secondary factor</a:t>
            </a:r>
          </a:p>
          <a:p>
            <a:pPr>
              <a:spcAft>
                <a:spcPts val="600"/>
              </a:spcAft>
            </a:pPr>
            <a:r>
              <a:rPr sz="1400" b="1">
                <a:solidFill>
                  <a:srgbClr val="0071E3"/>
                </a:solidFill>
              </a:rPr>
              <a:t>▸  </a:t>
            </a:r>
            <a:r>
              <a:rPr sz="1400" b="1">
                <a:solidFill>
                  <a:srgbClr val="1D1D1F"/>
                </a:solidFill>
              </a:rPr>
              <a:t>Long-term: </a:t>
            </a:r>
            <a:r>
              <a:rPr sz="1400">
                <a:solidFill>
                  <a:srgbClr val="1D1D1F"/>
                </a:solidFill>
              </a:rPr>
              <a:t>Installed base of 2.5B+ active devices keeps Services compounding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822960"/>
          </a:xfrm>
          <a:prstGeom prst="rect">
            <a:avLst/>
          </a:prstGeom>
          <a:noFill/>
        </p:spPr>
        <p:txBody>
          <a:bodyPr wrap="square">
            <a:spAutoFit/>
          </a:bodyPr>
          <a:lstStyle/>
          <a:p>
            <a:pPr algn="l"/>
            <a:r>
              <a:rPr sz="3400" b="1">
                <a:solidFill>
                  <a:srgbClr val="1D1D1F"/>
                </a:solidFill>
                <a:latin typeface="Helvetica"/>
              </a:rPr>
              <a:t>Leadership &amp; Market Position</a:t>
            </a:r>
          </a:p>
        </p:txBody>
      </p:sp>
      <p:sp>
        <p:nvSpPr>
          <p:cNvPr id="4" name="Rectangle 3"/>
          <p:cNvSpPr/>
          <p:nvPr/>
        </p:nvSpPr>
        <p:spPr>
          <a:xfrm>
            <a:off x="566928" y="1417320"/>
            <a:ext cx="1097280" cy="50800"/>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691640"/>
            <a:ext cx="5394960" cy="4572000"/>
          </a:xfrm>
          <a:prstGeom prst="rect">
            <a:avLst/>
          </a:prstGeom>
          <a:noFill/>
        </p:spPr>
        <p:txBody>
          <a:bodyPr wrap="square">
            <a:spAutoFit/>
          </a:bodyPr>
          <a:lstStyle/>
          <a:p>
            <a:pPr>
              <a:spcAft>
                <a:spcPts val="600"/>
              </a:spcAft>
            </a:pPr>
            <a:r>
              <a:rPr sz="1400" b="1">
                <a:solidFill>
                  <a:srgbClr val="0071E3"/>
                </a:solidFill>
              </a:rPr>
              <a:t>▸  </a:t>
            </a:r>
            <a:r>
              <a:rPr sz="1400" b="1">
                <a:solidFill>
                  <a:srgbClr val="1D1D1F"/>
                </a:solidFill>
              </a:rPr>
              <a:t>CEO: </a:t>
            </a:r>
            <a:r>
              <a:rPr sz="1400">
                <a:solidFill>
                  <a:srgbClr val="1D1D1F"/>
                </a:solidFill>
              </a:rPr>
              <a:t>Tim Cook — led Apple since 2011; a CEO transition was announced alongside Q2 FY26 results</a:t>
            </a:r>
          </a:p>
          <a:p>
            <a:pPr>
              <a:spcAft>
                <a:spcPts val="600"/>
              </a:spcAft>
            </a:pPr>
            <a:r>
              <a:rPr sz="1400" b="1">
                <a:solidFill>
                  <a:srgbClr val="0071E3"/>
                </a:solidFill>
              </a:rPr>
              <a:t>▸  </a:t>
            </a:r>
            <a:r>
              <a:rPr sz="1400" b="1">
                <a:solidFill>
                  <a:srgbClr val="1D1D1F"/>
                </a:solidFill>
              </a:rPr>
              <a:t>CFO: </a:t>
            </a:r>
            <a:r>
              <a:rPr sz="1400">
                <a:solidFill>
                  <a:srgbClr val="1D1D1F"/>
                </a:solidFill>
              </a:rPr>
              <a:t>Kevan Parekh — oversees record capital-return program</a:t>
            </a:r>
          </a:p>
          <a:p>
            <a:pPr>
              <a:spcAft>
                <a:spcPts val="600"/>
              </a:spcAft>
            </a:pPr>
            <a:r>
              <a:rPr sz="1400" b="1">
                <a:solidFill>
                  <a:srgbClr val="0071E3"/>
                </a:solidFill>
              </a:rPr>
              <a:t>▸  </a:t>
            </a:r>
            <a:r>
              <a:rPr sz="1400" b="1">
                <a:solidFill>
                  <a:srgbClr val="1D1D1F"/>
                </a:solidFill>
              </a:rPr>
              <a:t>Board/Founders: </a:t>
            </a:r>
            <a:r>
              <a:rPr sz="1400">
                <a:solidFill>
                  <a:srgbClr val="1D1D1F"/>
                </a:solidFill>
              </a:rPr>
              <a:t>Co-founded by Steve Jobs &amp; Steve Wozniak (1976); headquarters in Cupertino, California (Apple Park)</a:t>
            </a:r>
          </a:p>
          <a:p>
            <a:pPr>
              <a:spcAft>
                <a:spcPts val="600"/>
              </a:spcAft>
            </a:pPr>
            <a:r>
              <a:rPr sz="1400" b="1">
                <a:solidFill>
                  <a:srgbClr val="0071E3"/>
                </a:solidFill>
              </a:rPr>
              <a:t>▸  </a:t>
            </a:r>
            <a:r>
              <a:rPr sz="1400" b="1">
                <a:solidFill>
                  <a:srgbClr val="1D1D1F"/>
                </a:solidFill>
              </a:rPr>
              <a:t>Workforce: </a:t>
            </a:r>
            <a:r>
              <a:rPr sz="1400">
                <a:solidFill>
                  <a:srgbClr val="1D1D1F"/>
                </a:solidFill>
              </a:rPr>
              <a:t>166,000 employees; ~$2.5M revenue per employee</a:t>
            </a:r>
          </a:p>
          <a:p>
            <a:pPr>
              <a:spcAft>
                <a:spcPts val="600"/>
              </a:spcAft>
            </a:pPr>
            <a:r>
              <a:rPr sz="1400" b="1">
                <a:solidFill>
                  <a:srgbClr val="0071E3"/>
                </a:solidFill>
              </a:rPr>
              <a:t>▸  </a:t>
            </a:r>
            <a:r>
              <a:rPr sz="1400" b="1">
                <a:solidFill>
                  <a:srgbClr val="1D1D1F"/>
                </a:solidFill>
              </a:rPr>
              <a:t>Manufacturing: </a:t>
            </a:r>
            <a:r>
              <a:rPr sz="1400">
                <a:solidFill>
                  <a:srgbClr val="1D1D1F"/>
                </a:solidFill>
              </a:rPr>
              <a:t>Outsourced to Foxconn, TSMC and other partners; Apple designs its own silicon</a:t>
            </a:r>
          </a:p>
        </p:txBody>
      </p:sp>
      <p:sp>
        <p:nvSpPr>
          <p:cNvPr id="6" name="Rectangle 5"/>
          <p:cNvSpPr/>
          <p:nvPr/>
        </p:nvSpPr>
        <p:spPr>
          <a:xfrm>
            <a:off x="6309360" y="1691640"/>
            <a:ext cx="5303520" cy="45720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37960" y="1874519"/>
            <a:ext cx="4846320" cy="4206240"/>
          </a:xfrm>
          <a:prstGeom prst="rect">
            <a:avLst/>
          </a:prstGeom>
          <a:noFill/>
        </p:spPr>
        <p:txBody>
          <a:bodyPr wrap="square">
            <a:spAutoFit/>
          </a:bodyPr>
          <a:lstStyle/>
          <a:p>
            <a:r>
              <a:rPr sz="1600" b="1">
                <a:solidFill>
                  <a:srgbClr val="0071E3"/>
                </a:solidFill>
              </a:rPr>
              <a:t>Market Position</a:t>
            </a:r>
          </a:p>
          <a:p>
            <a:pPr>
              <a:spcBef>
                <a:spcPts val="800"/>
              </a:spcBef>
            </a:pPr>
            <a:r>
              <a:rPr sz="1300">
                <a:solidFill>
                  <a:srgbClr val="1D1D1F"/>
                </a:solidFill>
              </a:rPr>
              <a:t>▸  World's most valuable company (~$4.9T market cap) — competing with NVIDIA and Microsoft at the top of global rankings</a:t>
            </a:r>
          </a:p>
          <a:p>
            <a:pPr>
              <a:spcBef>
                <a:spcPts val="800"/>
              </a:spcBef>
            </a:pPr>
            <a:r>
              <a:rPr sz="1300">
                <a:solidFill>
                  <a:srgbClr val="1D1D1F"/>
                </a:solidFill>
              </a:rPr>
              <a:t>▸  iPhone: dominant premium smartphone franchise, with record demand in China, India and emerging markets</a:t>
            </a:r>
          </a:p>
          <a:p>
            <a:pPr>
              <a:spcBef>
                <a:spcPts val="800"/>
              </a:spcBef>
            </a:pPr>
            <a:r>
              <a:rPr sz="1300">
                <a:solidFill>
                  <a:srgbClr val="1D1D1F"/>
                </a:solidFill>
              </a:rPr>
              <a:t>▸  Mac: best quarter ever for new-to-Mac customers, incl. U.S., China Mainland and India</a:t>
            </a:r>
          </a:p>
          <a:p>
            <a:pPr>
              <a:spcBef>
                <a:spcPts val="800"/>
              </a:spcBef>
            </a:pPr>
            <a:r>
              <a:rPr sz="1300">
                <a:solidFill>
                  <a:srgbClr val="1D1D1F"/>
                </a:solidFill>
              </a:rPr>
              <a:t>▸  Apple TV+ won the industry's top honors (Emmy, Grammy, Oscar, Tony) faster than any streamer in history</a:t>
            </a:r>
          </a:p>
          <a:p>
            <a:pPr>
              <a:spcBef>
                <a:spcPts val="800"/>
              </a:spcBef>
            </a:pPr>
            <a:r>
              <a:rPr sz="1300">
                <a:solidFill>
                  <a:srgbClr val="1D1D1F"/>
                </a:solidFill>
              </a:rPr>
              <a:t>▸  Apple Music, iCloud, Pay and the App Store form a subscription annuity on top of hardware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822960"/>
          </a:xfrm>
          <a:prstGeom prst="rect">
            <a:avLst/>
          </a:prstGeom>
          <a:noFill/>
        </p:spPr>
        <p:txBody>
          <a:bodyPr wrap="square">
            <a:spAutoFit/>
          </a:bodyPr>
          <a:lstStyle/>
          <a:p>
            <a:pPr algn="l"/>
            <a:r>
              <a:rPr sz="3400" b="1">
                <a:solidFill>
                  <a:srgbClr val="1D1D1F"/>
                </a:solidFill>
                <a:latin typeface="Helvetica"/>
              </a:rPr>
              <a:t>Strategy, Outlook &amp; Key Risks</a:t>
            </a:r>
          </a:p>
        </p:txBody>
      </p:sp>
      <p:sp>
        <p:nvSpPr>
          <p:cNvPr id="4" name="TextBox 3"/>
          <p:cNvSpPr txBox="1"/>
          <p:nvPr/>
        </p:nvSpPr>
        <p:spPr>
          <a:xfrm>
            <a:off x="566928" y="1024128"/>
            <a:ext cx="11064240" cy="365760"/>
          </a:xfrm>
          <a:prstGeom prst="rect">
            <a:avLst/>
          </a:prstGeom>
          <a:noFill/>
        </p:spPr>
        <p:txBody>
          <a:bodyPr wrap="square">
            <a:spAutoFit/>
          </a:bodyPr>
          <a:lstStyle/>
          <a:p>
            <a:pPr algn="l"/>
            <a:r>
              <a:rPr sz="1400" b="0">
                <a:solidFill>
                  <a:srgbClr val="86868B"/>
                </a:solidFill>
                <a:latin typeface="Helvetica"/>
              </a:rPr>
              <a:t>Where Apple goes from here</a:t>
            </a:r>
          </a:p>
        </p:txBody>
      </p:sp>
      <p:sp>
        <p:nvSpPr>
          <p:cNvPr id="5" name="Rectangle 4"/>
          <p:cNvSpPr/>
          <p:nvPr/>
        </p:nvSpPr>
        <p:spPr>
          <a:xfrm>
            <a:off x="566928" y="1417320"/>
            <a:ext cx="1097280" cy="50800"/>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645920"/>
            <a:ext cx="5394960" cy="365760"/>
          </a:xfrm>
          <a:prstGeom prst="rect">
            <a:avLst/>
          </a:prstGeom>
          <a:noFill/>
        </p:spPr>
        <p:txBody>
          <a:bodyPr wrap="square">
            <a:spAutoFit/>
          </a:bodyPr>
          <a:lstStyle/>
          <a:p>
            <a:pPr algn="l"/>
            <a:r>
              <a:rPr sz="1700" b="1">
                <a:solidFill>
                  <a:srgbClr val="0071E3"/>
                </a:solidFill>
                <a:latin typeface="Helvetica"/>
              </a:rPr>
              <a:t>Growth Strategy</a:t>
            </a:r>
          </a:p>
        </p:txBody>
      </p:sp>
      <p:sp>
        <p:nvSpPr>
          <p:cNvPr id="7" name="TextBox 6"/>
          <p:cNvSpPr txBox="1"/>
          <p:nvPr/>
        </p:nvSpPr>
        <p:spPr>
          <a:xfrm>
            <a:off x="566928" y="2057400"/>
            <a:ext cx="5394960" cy="4480560"/>
          </a:xfrm>
          <a:prstGeom prst="rect">
            <a:avLst/>
          </a:prstGeom>
          <a:noFill/>
        </p:spPr>
        <p:txBody>
          <a:bodyPr wrap="square">
            <a:spAutoFit/>
          </a:bodyPr>
          <a:lstStyle/>
          <a:p>
            <a:pPr>
              <a:spcAft>
                <a:spcPts val="600"/>
              </a:spcAft>
            </a:pPr>
            <a:r>
              <a:rPr sz="1400" b="1">
                <a:solidFill>
                  <a:srgbClr val="0071E3"/>
                </a:solidFill>
              </a:rPr>
              <a:t>▸  </a:t>
            </a:r>
            <a:r>
              <a:rPr sz="1400" b="1">
                <a:solidFill>
                  <a:srgbClr val="1D1D1F"/>
                </a:solidFill>
              </a:rPr>
              <a:t>AI: </a:t>
            </a:r>
            <a:r>
              <a:rPr sz="1400">
                <a:solidFill>
                  <a:srgbClr val="1D1D1F"/>
                </a:solidFill>
              </a:rPr>
              <a:t>Rollout of Apple Intelligence &amp; Siri AI — approved for initial features in China; EU negotiations ongoing</a:t>
            </a:r>
          </a:p>
          <a:p>
            <a:pPr>
              <a:spcAft>
                <a:spcPts val="600"/>
              </a:spcAft>
            </a:pPr>
            <a:r>
              <a:rPr sz="1400" b="1">
                <a:solidFill>
                  <a:srgbClr val="0071E3"/>
                </a:solidFill>
              </a:rPr>
              <a:t>▸  </a:t>
            </a:r>
            <a:r>
              <a:rPr sz="1400" b="1">
                <a:solidFill>
                  <a:srgbClr val="1D1D1F"/>
                </a:solidFill>
              </a:rPr>
              <a:t>New categories: </a:t>
            </a:r>
            <a:r>
              <a:rPr sz="1400">
                <a:solidFill>
                  <a:srgbClr val="1D1D1F"/>
                </a:solidFill>
              </a:rPr>
              <a:t>First foldable (iPhone Duo), MacBook Neo, and annual silicon upgrades</a:t>
            </a:r>
          </a:p>
          <a:p>
            <a:pPr>
              <a:spcAft>
                <a:spcPts val="600"/>
              </a:spcAft>
            </a:pPr>
            <a:r>
              <a:rPr sz="1400" b="1">
                <a:solidFill>
                  <a:srgbClr val="0071E3"/>
                </a:solidFill>
              </a:rPr>
              <a:t>▸  </a:t>
            </a:r>
            <a:r>
              <a:rPr sz="1400" b="1">
                <a:solidFill>
                  <a:srgbClr val="1D1D1F"/>
                </a:solidFill>
              </a:rPr>
              <a:t>Services annuity: </a:t>
            </a:r>
            <a:r>
              <a:rPr sz="1400">
                <a:solidFill>
                  <a:srgbClr val="1D1D1F"/>
                </a:solidFill>
              </a:rPr>
              <a:t>2.5B-device installed base converting to subscriptions</a:t>
            </a:r>
          </a:p>
          <a:p>
            <a:pPr>
              <a:spcAft>
                <a:spcPts val="600"/>
              </a:spcAft>
            </a:pPr>
            <a:r>
              <a:rPr sz="1400" b="1">
                <a:solidFill>
                  <a:srgbClr val="0071E3"/>
                </a:solidFill>
              </a:rPr>
              <a:t>▸  </a:t>
            </a:r>
            <a:r>
              <a:rPr sz="1400" b="1">
                <a:solidFill>
                  <a:srgbClr val="1D1D1F"/>
                </a:solidFill>
              </a:rPr>
              <a:t>Emerging markets: </a:t>
            </a:r>
            <a:r>
              <a:rPr sz="1400">
                <a:solidFill>
                  <a:srgbClr val="1D1D1F"/>
                </a:solidFill>
              </a:rPr>
              <a:t>Record growth in India, Latin America and Southeast Asia</a:t>
            </a:r>
          </a:p>
        </p:txBody>
      </p:sp>
      <p:sp>
        <p:nvSpPr>
          <p:cNvPr id="8" name="TextBox 7"/>
          <p:cNvSpPr txBox="1"/>
          <p:nvPr/>
        </p:nvSpPr>
        <p:spPr>
          <a:xfrm>
            <a:off x="6309360" y="1645920"/>
            <a:ext cx="5303520" cy="365760"/>
          </a:xfrm>
          <a:prstGeom prst="rect">
            <a:avLst/>
          </a:prstGeom>
          <a:noFill/>
        </p:spPr>
        <p:txBody>
          <a:bodyPr wrap="square">
            <a:spAutoFit/>
          </a:bodyPr>
          <a:lstStyle/>
          <a:p>
            <a:pPr algn="l"/>
            <a:r>
              <a:rPr sz="1700" b="1">
                <a:solidFill>
                  <a:srgbClr val="FF3B30"/>
                </a:solidFill>
                <a:latin typeface="Helvetica"/>
              </a:rPr>
              <a:t>Key Risks &amp; Watch Items</a:t>
            </a:r>
          </a:p>
        </p:txBody>
      </p:sp>
      <p:sp>
        <p:nvSpPr>
          <p:cNvPr id="9" name="TextBox 8"/>
          <p:cNvSpPr txBox="1"/>
          <p:nvPr/>
        </p:nvSpPr>
        <p:spPr>
          <a:xfrm>
            <a:off x="6309360" y="2057400"/>
            <a:ext cx="5303520" cy="4480560"/>
          </a:xfrm>
          <a:prstGeom prst="rect">
            <a:avLst/>
          </a:prstGeom>
          <a:noFill/>
        </p:spPr>
        <p:txBody>
          <a:bodyPr wrap="square">
            <a:spAutoFit/>
          </a:bodyPr>
          <a:lstStyle/>
          <a:p>
            <a:pPr>
              <a:spcAft>
                <a:spcPts val="600"/>
              </a:spcAft>
            </a:pPr>
            <a:r>
              <a:rPr sz="1400" b="1">
                <a:solidFill>
                  <a:srgbClr val="FF3B30"/>
                </a:solidFill>
              </a:rPr>
              <a:t>▸  </a:t>
            </a:r>
            <a:r>
              <a:rPr sz="1400" b="1">
                <a:solidFill>
                  <a:srgbClr val="1D1D1F"/>
                </a:solidFill>
              </a:rPr>
              <a:t>Supply constraints: </a:t>
            </a:r>
            <a:r>
              <a:rPr sz="1400">
                <a:solidFill>
                  <a:srgbClr val="1D1D1F"/>
                </a:solidFill>
              </a:rPr>
              <a:t>Component shortages capped Q3 and are expected to increase</a:t>
            </a:r>
          </a:p>
          <a:p>
            <a:pPr>
              <a:spcAft>
                <a:spcPts val="600"/>
              </a:spcAft>
            </a:pPr>
            <a:r>
              <a:rPr sz="1400" b="1">
                <a:solidFill>
                  <a:srgbClr val="FF3B30"/>
                </a:solidFill>
              </a:rPr>
              <a:t>▸  </a:t>
            </a:r>
            <a:r>
              <a:rPr sz="1400" b="1">
                <a:solidFill>
                  <a:srgbClr val="1D1D1F"/>
                </a:solidFill>
              </a:rPr>
              <a:t>Memory costs: </a:t>
            </a:r>
            <a:r>
              <a:rPr sz="1400">
                <a:solidFill>
                  <a:srgbClr val="1D1D1F"/>
                </a:solidFill>
              </a:rPr>
              <a:t>DRAM/NAND inflation drove ~160bps of sequential gross-margin pressure into Q4</a:t>
            </a:r>
          </a:p>
          <a:p>
            <a:pPr>
              <a:spcAft>
                <a:spcPts val="600"/>
              </a:spcAft>
            </a:pPr>
            <a:r>
              <a:rPr sz="1400" b="1">
                <a:solidFill>
                  <a:srgbClr val="FF3B30"/>
                </a:solidFill>
              </a:rPr>
              <a:t>▸  </a:t>
            </a:r>
            <a:r>
              <a:rPr sz="1400" b="1">
                <a:solidFill>
                  <a:srgbClr val="1D1D1F"/>
                </a:solidFill>
              </a:rPr>
              <a:t>Regulation: </a:t>
            </a:r>
            <a:r>
              <a:rPr sz="1400">
                <a:solidFill>
                  <a:srgbClr val="1D1D1F"/>
                </a:solidFill>
              </a:rPr>
              <a:t>EU Digital Markets Act limits feature rollouts; App Store rules under scrutiny worldwide</a:t>
            </a:r>
          </a:p>
          <a:p>
            <a:pPr>
              <a:spcAft>
                <a:spcPts val="600"/>
              </a:spcAft>
            </a:pPr>
            <a:r>
              <a:rPr sz="1400" b="1">
                <a:solidFill>
                  <a:srgbClr val="FF3B30"/>
                </a:solidFill>
              </a:rPr>
              <a:t>▸  </a:t>
            </a:r>
            <a:r>
              <a:rPr sz="1400" b="1">
                <a:solidFill>
                  <a:srgbClr val="1D1D1F"/>
                </a:solidFill>
              </a:rPr>
              <a:t>China: </a:t>
            </a:r>
            <a:r>
              <a:rPr sz="1400">
                <a:solidFill>
                  <a:srgbClr val="1D1D1F"/>
                </a:solidFill>
              </a:rPr>
              <a:t>Competition from domestic brands and geopolitical/tariff uncertainty</a:t>
            </a:r>
          </a:p>
          <a:p>
            <a:pPr>
              <a:spcAft>
                <a:spcPts val="600"/>
              </a:spcAft>
            </a:pPr>
            <a:r>
              <a:rPr sz="1400" b="1">
                <a:solidFill>
                  <a:srgbClr val="FF3B30"/>
                </a:solidFill>
              </a:rPr>
              <a:t>▸  </a:t>
            </a:r>
            <a:r>
              <a:rPr sz="1400" b="1">
                <a:solidFill>
                  <a:srgbClr val="1D1D1F"/>
                </a:solidFill>
              </a:rPr>
              <a:t>Growth deceleration: </a:t>
            </a:r>
            <a:r>
              <a:rPr sz="1400">
                <a:solidFill>
                  <a:srgbClr val="1D1D1F"/>
                </a:solidFill>
              </a:rPr>
              <a:t>Sept-quarter guide of +9–11% vs +16% in June — the market is watching the AI payoff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731520"/>
          </a:xfrm>
          <a:prstGeom prst="rect">
            <a:avLst/>
          </a:prstGeom>
          <a:noFill/>
        </p:spPr>
        <p:txBody>
          <a:bodyPr wrap="square">
            <a:spAutoFit/>
          </a:bodyPr>
          <a:lstStyle/>
          <a:p>
            <a:pPr algn="l"/>
            <a:r>
              <a:rPr sz="3400" b="1">
                <a:solidFill>
                  <a:srgbClr val="FFFFFF"/>
                </a:solidFill>
                <a:latin typeface="Helvetica"/>
              </a:rPr>
              <a:t>Summary — Apple at a Glance</a:t>
            </a:r>
          </a:p>
        </p:txBody>
      </p:sp>
      <p:sp>
        <p:nvSpPr>
          <p:cNvPr id="4" name="Rectangle 3"/>
          <p:cNvSpPr/>
          <p:nvPr/>
        </p:nvSpPr>
        <p:spPr>
          <a:xfrm>
            <a:off x="841248" y="1371600"/>
            <a:ext cx="1097280" cy="50800"/>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783080"/>
            <a:ext cx="1645920" cy="457200"/>
          </a:xfrm>
          <a:prstGeom prst="rect">
            <a:avLst/>
          </a:prstGeom>
          <a:noFill/>
        </p:spPr>
        <p:txBody>
          <a:bodyPr wrap="square">
            <a:spAutoFit/>
          </a:bodyPr>
          <a:lstStyle/>
          <a:p>
            <a:pPr algn="l"/>
            <a:r>
              <a:rPr sz="1700" b="1">
                <a:solidFill>
                  <a:srgbClr val="30D158"/>
                </a:solidFill>
                <a:latin typeface="Helvetica"/>
              </a:rPr>
              <a:t>Scale</a:t>
            </a:r>
          </a:p>
        </p:txBody>
      </p:sp>
      <p:sp>
        <p:nvSpPr>
          <p:cNvPr id="6" name="TextBox 5"/>
          <p:cNvSpPr txBox="1"/>
          <p:nvPr/>
        </p:nvSpPr>
        <p:spPr>
          <a:xfrm>
            <a:off x="2560320" y="1783080"/>
            <a:ext cx="8778240" cy="822960"/>
          </a:xfrm>
          <a:prstGeom prst="rect">
            <a:avLst/>
          </a:prstGeom>
          <a:noFill/>
        </p:spPr>
        <p:txBody>
          <a:bodyPr wrap="square">
            <a:spAutoFit/>
          </a:bodyPr>
          <a:lstStyle/>
          <a:p>
            <a:pPr algn="l"/>
            <a:r>
              <a:rPr sz="1450" b="0">
                <a:solidFill>
                  <a:srgbClr val="E8E8ED"/>
                </a:solidFill>
                <a:latin typeface="Helvetica"/>
              </a:rPr>
              <a:t>~$451B revenue, ~$112B net income, $4.9T market cap — one of the three most valuable companies on Earth</a:t>
            </a:r>
          </a:p>
        </p:txBody>
      </p:sp>
      <p:sp>
        <p:nvSpPr>
          <p:cNvPr id="7" name="TextBox 6"/>
          <p:cNvSpPr txBox="1"/>
          <p:nvPr/>
        </p:nvSpPr>
        <p:spPr>
          <a:xfrm>
            <a:off x="841248" y="2679192"/>
            <a:ext cx="1645920" cy="457200"/>
          </a:xfrm>
          <a:prstGeom prst="rect">
            <a:avLst/>
          </a:prstGeom>
          <a:noFill/>
        </p:spPr>
        <p:txBody>
          <a:bodyPr wrap="square">
            <a:spAutoFit/>
          </a:bodyPr>
          <a:lstStyle/>
          <a:p>
            <a:pPr algn="l"/>
            <a:r>
              <a:rPr sz="1700" b="1">
                <a:solidFill>
                  <a:srgbClr val="30D158"/>
                </a:solidFill>
                <a:latin typeface="Helvetica"/>
              </a:rPr>
              <a:t>Moat</a:t>
            </a:r>
          </a:p>
        </p:txBody>
      </p:sp>
      <p:sp>
        <p:nvSpPr>
          <p:cNvPr id="8" name="TextBox 7"/>
          <p:cNvSpPr txBox="1"/>
          <p:nvPr/>
        </p:nvSpPr>
        <p:spPr>
          <a:xfrm>
            <a:off x="2560320" y="2679192"/>
            <a:ext cx="8778240" cy="822960"/>
          </a:xfrm>
          <a:prstGeom prst="rect">
            <a:avLst/>
          </a:prstGeom>
          <a:noFill/>
        </p:spPr>
        <p:txBody>
          <a:bodyPr wrap="square">
            <a:spAutoFit/>
          </a:bodyPr>
          <a:lstStyle/>
          <a:p>
            <a:pPr algn="l"/>
            <a:r>
              <a:rPr sz="1450" b="0">
                <a:solidFill>
                  <a:srgbClr val="E8E8ED"/>
                </a:solidFill>
                <a:latin typeface="Helvetica"/>
              </a:rPr>
              <a:t>2.5B active devices, 75%+ Services margins, proprietary silicon, and best-in-class brand loyalty</a:t>
            </a:r>
          </a:p>
        </p:txBody>
      </p:sp>
      <p:sp>
        <p:nvSpPr>
          <p:cNvPr id="9" name="TextBox 8"/>
          <p:cNvSpPr txBox="1"/>
          <p:nvPr/>
        </p:nvSpPr>
        <p:spPr>
          <a:xfrm>
            <a:off x="841248" y="3575304"/>
            <a:ext cx="1645920" cy="457200"/>
          </a:xfrm>
          <a:prstGeom prst="rect">
            <a:avLst/>
          </a:prstGeom>
          <a:noFill/>
        </p:spPr>
        <p:txBody>
          <a:bodyPr wrap="square">
            <a:spAutoFit/>
          </a:bodyPr>
          <a:lstStyle/>
          <a:p>
            <a:pPr algn="l"/>
            <a:r>
              <a:rPr sz="1700" b="1">
                <a:solidFill>
                  <a:srgbClr val="30D158"/>
                </a:solidFill>
                <a:latin typeface="Helvetica"/>
              </a:rPr>
              <a:t>Momentum</a:t>
            </a:r>
          </a:p>
        </p:txBody>
      </p:sp>
      <p:sp>
        <p:nvSpPr>
          <p:cNvPr id="10" name="TextBox 9"/>
          <p:cNvSpPr txBox="1"/>
          <p:nvPr/>
        </p:nvSpPr>
        <p:spPr>
          <a:xfrm>
            <a:off x="2560320" y="3575304"/>
            <a:ext cx="8778240" cy="822960"/>
          </a:xfrm>
          <a:prstGeom prst="rect">
            <a:avLst/>
          </a:prstGeom>
          <a:noFill/>
        </p:spPr>
        <p:txBody>
          <a:bodyPr wrap="square">
            <a:spAutoFit/>
          </a:bodyPr>
          <a:lstStyle/>
          <a:p>
            <a:pPr algn="l"/>
            <a:r>
              <a:rPr sz="1450" b="0">
                <a:solidFill>
                  <a:srgbClr val="E8E8ED"/>
                </a:solidFill>
                <a:latin typeface="Helvetica"/>
              </a:rPr>
              <a:t>Q3 FY26: +16% revenue, +29% EPS — records in every geography and every Services category</a:t>
            </a:r>
          </a:p>
        </p:txBody>
      </p:sp>
      <p:sp>
        <p:nvSpPr>
          <p:cNvPr id="11" name="TextBox 10"/>
          <p:cNvSpPr txBox="1"/>
          <p:nvPr/>
        </p:nvSpPr>
        <p:spPr>
          <a:xfrm>
            <a:off x="841248" y="4471416"/>
            <a:ext cx="1645920" cy="457200"/>
          </a:xfrm>
          <a:prstGeom prst="rect">
            <a:avLst/>
          </a:prstGeom>
          <a:noFill/>
        </p:spPr>
        <p:txBody>
          <a:bodyPr wrap="square">
            <a:spAutoFit/>
          </a:bodyPr>
          <a:lstStyle/>
          <a:p>
            <a:pPr algn="l"/>
            <a:r>
              <a:rPr sz="1700" b="1">
                <a:solidFill>
                  <a:srgbClr val="30D158"/>
                </a:solidFill>
                <a:latin typeface="Helvetica"/>
              </a:rPr>
              <a:t>Catalysts</a:t>
            </a:r>
          </a:p>
        </p:txBody>
      </p:sp>
      <p:sp>
        <p:nvSpPr>
          <p:cNvPr id="12" name="TextBox 11"/>
          <p:cNvSpPr txBox="1"/>
          <p:nvPr/>
        </p:nvSpPr>
        <p:spPr>
          <a:xfrm>
            <a:off x="2560320" y="4471416"/>
            <a:ext cx="8778240" cy="822960"/>
          </a:xfrm>
          <a:prstGeom prst="rect">
            <a:avLst/>
          </a:prstGeom>
          <a:noFill/>
        </p:spPr>
        <p:txBody>
          <a:bodyPr wrap="square">
            <a:spAutoFit/>
          </a:bodyPr>
          <a:lstStyle/>
          <a:p>
            <a:pPr algn="l"/>
            <a:r>
              <a:rPr sz="1450" b="0">
                <a:solidFill>
                  <a:srgbClr val="E8E8ED"/>
                </a:solidFill>
                <a:latin typeface="Helvetica"/>
              </a:rPr>
              <a:t>Foldable iPhone, Apple Intelligence / Siri AI, India &amp; emerging-market expansion</a:t>
            </a:r>
          </a:p>
        </p:txBody>
      </p:sp>
      <p:sp>
        <p:nvSpPr>
          <p:cNvPr id="13" name="TextBox 12"/>
          <p:cNvSpPr txBox="1"/>
          <p:nvPr/>
        </p:nvSpPr>
        <p:spPr>
          <a:xfrm>
            <a:off x="841248" y="5367528"/>
            <a:ext cx="1645920" cy="457200"/>
          </a:xfrm>
          <a:prstGeom prst="rect">
            <a:avLst/>
          </a:prstGeom>
          <a:noFill/>
        </p:spPr>
        <p:txBody>
          <a:bodyPr wrap="square">
            <a:spAutoFit/>
          </a:bodyPr>
          <a:lstStyle/>
          <a:p>
            <a:pPr algn="l"/>
            <a:r>
              <a:rPr sz="1700" b="1">
                <a:solidFill>
                  <a:srgbClr val="30D158"/>
                </a:solidFill>
                <a:latin typeface="Helvetica"/>
              </a:rPr>
              <a:t>Challenges</a:t>
            </a:r>
          </a:p>
        </p:txBody>
      </p:sp>
      <p:sp>
        <p:nvSpPr>
          <p:cNvPr id="14" name="TextBox 13"/>
          <p:cNvSpPr txBox="1"/>
          <p:nvPr/>
        </p:nvSpPr>
        <p:spPr>
          <a:xfrm>
            <a:off x="2560320" y="5367528"/>
            <a:ext cx="8778240" cy="822960"/>
          </a:xfrm>
          <a:prstGeom prst="rect">
            <a:avLst/>
          </a:prstGeom>
          <a:noFill/>
        </p:spPr>
        <p:txBody>
          <a:bodyPr wrap="square">
            <a:spAutoFit/>
          </a:bodyPr>
          <a:lstStyle/>
          <a:p>
            <a:pPr algn="l"/>
            <a:r>
              <a:rPr sz="1450" b="0">
                <a:solidFill>
                  <a:srgbClr val="E8E8ED"/>
                </a:solidFill>
                <a:latin typeface="Helvetica"/>
              </a:rPr>
              <a:t>Memory-cost inflation, supply constraints, EU/China regulation, and decelerating growth guidance</a:t>
            </a:r>
          </a:p>
        </p:txBody>
      </p:sp>
      <p:sp>
        <p:nvSpPr>
          <p:cNvPr id="15" name="TextBox 14"/>
          <p:cNvSpPr txBox="1"/>
          <p:nvPr/>
        </p:nvSpPr>
        <p:spPr>
          <a:xfrm>
            <a:off x="822960" y="6309360"/>
            <a:ext cx="10515600" cy="365760"/>
          </a:xfrm>
          <a:prstGeom prst="rect">
            <a:avLst/>
          </a:prstGeom>
          <a:noFill/>
        </p:spPr>
        <p:txBody>
          <a:bodyPr wrap="square">
            <a:spAutoFit/>
          </a:bodyPr>
          <a:lstStyle/>
          <a:p>
            <a:pPr algn="l"/>
            <a:r>
              <a:rPr sz="1000" b="0">
                <a:solidFill>
                  <a:srgbClr val="86868B"/>
                </a:solidFill>
                <a:latin typeface="Helvetica"/>
              </a:rPr>
              <a:t>Sources: Apple FY2026 Q3 earnings release &amp; call (Jul 30, 2026), Yahoo Finance, Forbes, PitchBook, StockAnalysis. Figures as of September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